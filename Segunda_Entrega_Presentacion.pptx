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0"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300" b="1">
                <a:solidFill>
                  <a:srgbClr val="0B2E4F"/>
                </a:solidFill>
              </a:rPr>
              <a:t>La dispersión (IQR) codifica los obstáculos</a:t>
            </a:r>
          </a:p>
        </c:rich>
      </c:tx>
      <c:overlay val="0"/>
    </c:title>
    <c:autoTitleDeleted val="0"/>
    <c:plotArea>
      <c:layout/>
      <c:barChart>
        <c:barDir val="col"/>
        <c:grouping val="clustered"/>
        <c:varyColors val="1"/>
        <c:ser>
          <c:idx val="0"/>
          <c:order val="0"/>
          <c:tx>
            <c:strRef>
              <c:f>Sheet1!$B$1</c:f>
              <c:strCache>
                <c:ptCount val="1"/>
                <c:pt idx="0">
                  <c:v>IQR medio (dB)</c:v>
                </c:pt>
              </c:strCache>
            </c:strRef>
          </c:tx>
          <c:spPr>
            <a:solidFill>
              <a:srgbClr val="1C7293"/>
            </a:solidFill>
          </c:spPr>
          <c:invertIfNegative val="1"/>
          <c:cat>
            <c:strRef>
              <c:f>Sheet1!$A$2:$A$5</c:f>
              <c:strCache>
                <c:ptCount val="4"/>
                <c:pt idx="0">
                  <c:v>Línea de vista: 1.1 dB</c:v>
                </c:pt>
                <c:pt idx="1">
                  <c:v>1 pared: 1.6 dB</c:v>
                </c:pt>
                <c:pt idx="2">
                  <c:v>2 paredes: 2.0 dB</c:v>
                </c:pt>
                <c:pt idx="3">
                  <c:v>3 o más: 2.5 dB</c:v>
                </c:pt>
              </c:strCache>
            </c:strRef>
          </c:cat>
          <c:val>
            <c:numRef>
              <c:f>Sheet1!$B$2:$B$5</c:f>
              <c:numCache>
                <c:formatCode>General</c:formatCode>
                <c:ptCount val="4"/>
                <c:pt idx="0">
                  <c:v>1.05</c:v>
                </c:pt>
                <c:pt idx="1">
                  <c:v>1.57</c:v>
                </c:pt>
                <c:pt idx="2">
                  <c:v>2.04</c:v>
                </c:pt>
                <c:pt idx="3">
                  <c:v>2.52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969-429C-807B-C0D036A6ECEA}"/>
            </c:ext>
          </c:extLst>
        </c:ser>
        <c:dLbls>
          <c:showLegendKey val="0"/>
          <c:showVal val="0"/>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6E2EA"/>
            </a:solidFill>
          </a:ln>
        </c:spPr>
        <c:txPr>
          <a:bodyPr/>
          <a:lstStyle/>
          <a:p>
            <a:pPr>
              <a:defRPr sz="1200">
                <a:solidFill>
                  <a:srgbClr val="4A5560"/>
                </a:solidFill>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s-MX"/>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207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DANIEL (20 s). Buenos días. Somos Daniel Cipagauta y Sebastián Ramos. Presentamos la segunda entrega: localización interior con la señal WiFi y kNN, reconstruyendo el artículo QA-kNN de Ferreira y coautores. En esta fase pasamos del planteamiento a modelar, validar e interpretar.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DANIEL (1 min). Antes de agregar nada nuevo atendimos las cuatro observaciones. Primero, el piloto real: usamos las 3 520 lecturas que publicaron los autores y un piloto propio con un script que lee el RSSI en dBm desde Windows. Segundo, verificamos empíricamente separabilidad y normalidad. Tercero, las fallas de AP producen datos faltantes que se imputan dentro del Pipeline. Cuarto, declaramos el uso de IA. Si preguntan por el campus: la primera toma fue una prueba del protocolo; el script es el mismo y el notebook incorpora cualquier medición nueva automáticamente.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MX"/>
              <a:t>DANIEL (50 s). Además de las observaciones, cambiamos tres decisiones del plan de la Fase 1. Uno, el ruido: en la Fase 1 poníamos 6 dB en cada lectura; los datos reales muestran que esa variación es del sitio, y entre lecturas repetidas solo hay 1 dB. Lo vemos en la siguiente diapositiva. Dos, la validación: planeamos una partición al azar 70/30; pasamos a partir por días, porque las visitas de un mismo día se parecen y al azar el modelo podría reconocer el día en vez de la zona. Mantuvimos la proporción: 10 días de entrenamiento y 4 de prueba. Tres, la distancia: el artículo usa euclidiana, pero no la impusimos; la búsqueda de hiperparámetros probó ambas y Manhattan ganó por medio punto. Si preguntan por qué Manhattan: suma las diferencias de cada AP sin elevarlas al cuadrado, así que un AP con una lectura atípica pesa menos; la diferencia es pequeña y elegimos la más simple entre las equivalentes.</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37962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DANIEL (1 min). Al contrastar con los datos reales encontramos un error en la simulación de la Fase 1: usábamos 6 dB de ruido en cada lectura. Los datos reales muestran que esa variación de unos 5 dB es espacial: depende del sitio y no cambia entre lecturas. Entre lecturas repetidas en el mismo punto la fluctuación es de apenas 1 dB. Por eso separamos: sombra fija en el espacio, deriva diaria y fluctuación temporal pequeña. Esta es la corrección más fuerte: la encontramos por contrastar con datos reales, justo lo que pidió la profesora.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SEBASTIÁN (1 min). El escenario es un piso de 30 por 20 metros con 18 zonas y 8 APs. La señal sigue el modelo log-normal del artículo con dos agregados: cada pared atravesada resta 6 o 4 decibeles, según el modelo multipared COST 231; y cuando la señal cruza paredes fluctúa más y tiene caídas profundas ocasionales por personas o multitrayecto. Eso da a las lecturas una cola inferior, que es exactamente lo que el artículo dice que capturan Q1 y Q3.</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SEBASTIÁN (50 s). La sombra simulada, 5 dB, cae dentro del rango real de 3.8 a 6.6. Con línea de vista, que es la condición del laboratorio del artículo, nuestra fluctuación es 0.93 dB y la real 1.01: la curva punteada se superpone a la azul. Y el piloto nos enseñó algo que no habíamos previsto: los APs débiles solo se detectan en el 67 % de los escaneos; con eso calibramos la curva de detección, que genera los datos faltantes.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SEBASTIÁN (40 s). El dataset final tiene 5 040 instancias, 280 por zona, y 24 predictores. No hay duplicados ni incoherencias. Falta el 7.8 % de las celdas, sobre todo de APs dentro de aulas y oficinas, cuya señal llega débil al otro lado del corredor (se ve en el mapa del AP2: la señal cae en cada muro). No hay que balancear ni codificar: solo imputar y escalar.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SEBASTIÁN (1 min). La separabilidad se cumple: la proyección LDA agrupa las zonas y solo se acercan las contiguas. La normalidad es aproximada: Shapiro rechaza, en buena parte por la discretización a dBm enteros, pero las distribuciones son casi simétricas. La independencia de Naive Bayes no se cumple: los tres cuartiles de un AP tienen correlación 0.99. La covarianza común de LDA tampoco: la dispersión depende de las paredes. Con esto anticipamos que QDA le ganaría a LDA y que NB quedaría último.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DANIEL (1 min). Uno: los cuartiles se calculan por instancia, solo con sus 40 lecturas; no filtran información entre filas. Dos: partimos por días; los días 11 a 14 son la prueba y no se tocan. Tres: dentro de cada pliegue, el Pipeline ajusta la imputación y el escalado solo con entrenamiento. Cuatro: la validación cruzada agrupa por día, porque las visitas del mismo día comparten la deriva. Lo medimos: al azar 0.946, por días 0.941. La diferencia es pequeña porque la deriva es de 1 dB, pero va en la dirección esperada. Semilla 42.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MX"/>
              <a:t>DANIEL (40 s). Comparamos los cinco modelos del curso y la línea base, ajustando por validación cruzada: k, distancia, ponderación y escalado en kNN; var_smoothing en Naive Bayes; C en la logística; y la regularización de la covarianza en LDA y QDA, útil por la colinealidad de los cuartiles. Si preguntan por la distancia: en la Fase 1 planeamos la euclidiana del artículo, pero dejamos que la validación cruzada decidiera; Manhattan dio 0.960 y euclidiana 0.955.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DANIEL (1 min 10 s). kNN gana en todas las métricas: 96.4 % de acierto en días nuevos y error medio de 0.22 metros, frente a 5.6 % y 15 metros de la línea base. No es suerte: McNemar contra QDA da p &lt; 0.001 (kNN acierta 59 casos que QDA falla; QDA, 27 que kNN falla). Las cifras de validación y de prueba coinciden: no hay sobreajuste a la validación. El orden QDA &gt; logística &gt; LDA ≈ NB es el que anticipaban los supuestos. Y el mejor k es 1, igual que en el artículo. Si preguntan si k = 1 sobreajusta: se eligió prediciendo días no vistos, y con 200 visitas por zona el vecino más cercano es una buena referencia local.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SEBASTIÁN (50 s). Reprodujimos el barrido de la Tabla 3 del artículo: el error cae de unos 6 metros con 2 APs a 0.28 con 8, y k influye poco, igual que en el artículo. Además corrimos nuestro mismo flujo sobre los datos reales de los autores: 100 % con 4 APs y k igual a 1, que es su resultado de error cero.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SEBASTIÁN (1 min 10 s). Esta fue la pregunta que nos dejó la profesora, y la respuesta tiene matices. Lo que más aporta es resumir varias lecturas en lugar de usar una sola: sube el acierto entre 7 y 12 puntos. Q1 y Q3 aportan sobre la media solo con pocos APs, unos 3 puntos con 2 APs, porque codifican los obstáculos: el IQR pasa de 1 dB con línea de vista a 2.5 dB con tres paredes. Con suficientes APs el nivel ya separa las zonas y esa información sobra. Lo mismo pasa en los datos reales. No contradice al artículo (ellos nunca compararon contra la media): lo precisa.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SEBASTIÁN (50 s). Los errores no son aleatorios: el 83 % es a la zona de al lado. La zona más difícil es Z17, una oficina sin AP propio y separada del corredor por un muro. Por permutación, ningún AP sobra, y entre los cuartiles el más informativo es Q1, la cola inferior, donde quedan las huellas de los obstáculos. En la práctica: funcionaría con el WiFi existente del campus y fallaría en «la habitación de al lado»; sirve para orientar visitantes, no para usos críticos sin más cobertura.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DANIEL (40 s). En resumen: corregimos la simulación con datos reales, construimos un flujo sin fuga, y kNN con k = 1 es el mejor modelo, con diferencia significativa. Para la entrega final: piloto en el campus, Método II del artículo y despliegue en Streamlit. Usamos IA como apoyo para el código y la redacción, y podemos sustentar cada decisión. Gracias.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E4F"/>
        </a:solidFill>
        <a:effectLst/>
      </p:bgPr>
    </p:bg>
    <p:spTree>
      <p:nvGrpSpPr>
        <p:cNvPr id="1" name=""/>
        <p:cNvGrpSpPr/>
        <p:nvPr/>
      </p:nvGrpSpPr>
      <p:grpSpPr>
        <a:xfrm>
          <a:off x="0" y="0"/>
          <a:ext cx="0" cy="0"/>
          <a:chOff x="0" y="0"/>
          <a:chExt cx="0" cy="0"/>
        </a:xfrm>
      </p:grpSpPr>
      <p:sp>
        <p:nvSpPr>
          <p:cNvPr id="2" name="Oval 1"/>
          <p:cNvSpPr/>
          <p:nvPr/>
        </p:nvSpPr>
        <p:spPr>
          <a:xfrm>
            <a:off x="10652759" y="411479"/>
            <a:ext cx="1005840" cy="1005840"/>
          </a:xfrm>
          <a:prstGeom prst="ellipse">
            <a:avLst/>
          </a:prstGeom>
          <a:noFill/>
          <a:ln w="22225">
            <a:solidFill>
              <a:srgbClr val="29D3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95559" y="-45720"/>
            <a:ext cx="1920240" cy="1920240"/>
          </a:xfrm>
          <a:prstGeom prst="ellipse">
            <a:avLst/>
          </a:prstGeom>
          <a:noFill/>
          <a:ln w="22225">
            <a:solidFill>
              <a:srgbClr val="1E8F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92640" y="-548640"/>
            <a:ext cx="2926080" cy="2926080"/>
          </a:xfrm>
          <a:prstGeom prst="ellipse">
            <a:avLst/>
          </a:prstGeom>
          <a:noFill/>
          <a:ln w="222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0" y="-1097280"/>
            <a:ext cx="4023360" cy="4023360"/>
          </a:xfrm>
          <a:prstGeom prst="ellipse">
            <a:avLst/>
          </a:prstGeom>
          <a:noFill/>
          <a:ln w="22225">
            <a:solidFill>
              <a:srgbClr val="1747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045952" y="804672"/>
            <a:ext cx="219456" cy="219456"/>
          </a:xfrm>
          <a:prstGeom prst="ellipse">
            <a:avLst/>
          </a:prstGeom>
          <a:solidFill>
            <a:srgbClr val="29D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74320" y="6400800"/>
            <a:ext cx="822960" cy="822960"/>
          </a:xfrm>
          <a:prstGeom prst="ellipse">
            <a:avLst/>
          </a:prstGeom>
          <a:noFill/>
          <a:ln w="22225">
            <a:solidFill>
              <a:srgbClr val="29D3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85800" y="5989320"/>
            <a:ext cx="1645920" cy="1645920"/>
          </a:xfrm>
          <a:prstGeom prst="ellipse">
            <a:avLst/>
          </a:prstGeom>
          <a:noFill/>
          <a:ln w="222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43000" y="5532120"/>
            <a:ext cx="2560320" cy="2560320"/>
          </a:xfrm>
          <a:prstGeom prst="ellipse">
            <a:avLst/>
          </a:prstGeom>
          <a:noFill/>
          <a:ln w="22225">
            <a:solidFill>
              <a:srgbClr val="1747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7432" y="6702552"/>
            <a:ext cx="219456" cy="219456"/>
          </a:xfrm>
          <a:prstGeom prst="ellipse">
            <a:avLst/>
          </a:prstGeom>
          <a:solidFill>
            <a:srgbClr val="29D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1234440"/>
            <a:ext cx="8229600" cy="365760"/>
          </a:xfrm>
          <a:prstGeom prst="rect">
            <a:avLst/>
          </a:prstGeom>
          <a:noFill/>
        </p:spPr>
        <p:txBody>
          <a:bodyPr wrap="square" lIns="45720" rIns="45720" anchor="t">
            <a:spAutoFit/>
          </a:bodyPr>
          <a:lstStyle/>
          <a:p>
            <a:pPr algn="l">
              <a:spcAft>
                <a:spcPts val="400"/>
              </a:spcAft>
            </a:pPr>
            <a:r>
              <a:rPr sz="1300" b="1" i="0">
                <a:solidFill>
                  <a:srgbClr val="29D3C5"/>
                </a:solidFill>
                <a:latin typeface="Calibri"/>
              </a:rPr>
              <a:t>PROYECTO INTEGRADOR · MACHINE LEARNING I</a:t>
            </a:r>
          </a:p>
        </p:txBody>
      </p:sp>
      <p:sp>
        <p:nvSpPr>
          <p:cNvPr id="12" name="TextBox 11"/>
          <p:cNvSpPr txBox="1"/>
          <p:nvPr/>
        </p:nvSpPr>
        <p:spPr>
          <a:xfrm>
            <a:off x="822960" y="1737360"/>
            <a:ext cx="9326880" cy="1554480"/>
          </a:xfrm>
          <a:prstGeom prst="rect">
            <a:avLst/>
          </a:prstGeom>
          <a:noFill/>
        </p:spPr>
        <p:txBody>
          <a:bodyPr wrap="square" lIns="45720" rIns="45720" anchor="t">
            <a:spAutoFit/>
          </a:bodyPr>
          <a:lstStyle/>
          <a:p>
            <a:pPr algn="l">
              <a:spcAft>
                <a:spcPts val="400"/>
              </a:spcAft>
            </a:pPr>
            <a:r>
              <a:rPr sz="4400" b="1" i="0">
                <a:solidFill>
                  <a:srgbClr val="FFFFFF"/>
                </a:solidFill>
                <a:latin typeface="Cambria"/>
              </a:rPr>
              <a:t>Localización interior mediante RSSI WiFi y kNN</a:t>
            </a:r>
          </a:p>
        </p:txBody>
      </p:sp>
      <p:sp>
        <p:nvSpPr>
          <p:cNvPr id="13" name="TextBox 12"/>
          <p:cNvSpPr txBox="1"/>
          <p:nvPr/>
        </p:nvSpPr>
        <p:spPr>
          <a:xfrm>
            <a:off x="822960" y="3337560"/>
            <a:ext cx="9144000" cy="457200"/>
          </a:xfrm>
          <a:prstGeom prst="rect">
            <a:avLst/>
          </a:prstGeom>
          <a:noFill/>
        </p:spPr>
        <p:txBody>
          <a:bodyPr wrap="square" lIns="45720" rIns="45720" anchor="t">
            <a:spAutoFit/>
          </a:bodyPr>
          <a:lstStyle/>
          <a:p>
            <a:pPr algn="l">
              <a:spcAft>
                <a:spcPts val="400"/>
              </a:spcAft>
            </a:pPr>
            <a:r>
              <a:rPr sz="1900" b="0" i="1">
                <a:solidFill>
                  <a:srgbClr val="C9D8E4"/>
                </a:solidFill>
                <a:latin typeface="Calibri"/>
              </a:rPr>
              <a:t>Reconstrucción del artículo QA-kNN en un edificio universitario colombiano</a:t>
            </a:r>
          </a:p>
        </p:txBody>
      </p:sp>
      <p:sp>
        <p:nvSpPr>
          <p:cNvPr id="14" name="TextBox 13"/>
          <p:cNvSpPr txBox="1"/>
          <p:nvPr/>
        </p:nvSpPr>
        <p:spPr>
          <a:xfrm>
            <a:off x="822960" y="4114800"/>
            <a:ext cx="9144000" cy="457200"/>
          </a:xfrm>
          <a:prstGeom prst="rect">
            <a:avLst/>
          </a:prstGeom>
          <a:noFill/>
        </p:spPr>
        <p:txBody>
          <a:bodyPr wrap="square" lIns="45720" rIns="45720" anchor="t">
            <a:spAutoFit/>
          </a:bodyPr>
          <a:lstStyle/>
          <a:p>
            <a:pPr algn="l">
              <a:spcAft>
                <a:spcPts val="400"/>
              </a:spcAft>
            </a:pPr>
            <a:r>
              <a:rPr sz="1800" b="1" i="0">
                <a:solidFill>
                  <a:srgbClr val="FFFFFF"/>
                </a:solidFill>
                <a:latin typeface="Calibri"/>
              </a:rPr>
              <a:t>Segunda entrega</a:t>
            </a:r>
            <a:r>
              <a:rPr sz="1800" b="0" i="0">
                <a:solidFill>
                  <a:srgbClr val="C9D8E4"/>
                </a:solidFill>
                <a:latin typeface="Calibri"/>
              </a:rPr>
              <a:t>  ·  Fase 2: datos, modelamiento y validación</a:t>
            </a:r>
          </a:p>
        </p:txBody>
      </p:sp>
      <p:sp>
        <p:nvSpPr>
          <p:cNvPr id="15" name="TextBox 14"/>
          <p:cNvSpPr txBox="1"/>
          <p:nvPr/>
        </p:nvSpPr>
        <p:spPr>
          <a:xfrm>
            <a:off x="822960" y="5029200"/>
            <a:ext cx="9144000" cy="411480"/>
          </a:xfrm>
          <a:prstGeom prst="rect">
            <a:avLst/>
          </a:prstGeom>
          <a:noFill/>
        </p:spPr>
        <p:txBody>
          <a:bodyPr wrap="square" lIns="45720" rIns="45720" anchor="t">
            <a:spAutoFit/>
          </a:bodyPr>
          <a:lstStyle/>
          <a:p>
            <a:pPr algn="l">
              <a:spcAft>
                <a:spcPts val="400"/>
              </a:spcAft>
            </a:pPr>
            <a:r>
              <a:rPr sz="1700" b="1" i="0">
                <a:solidFill>
                  <a:srgbClr val="FFFFFF"/>
                </a:solidFill>
                <a:latin typeface="Calibri"/>
              </a:rPr>
              <a:t>Sebastián Ramos · Daniel Cipagauta</a:t>
            </a:r>
          </a:p>
        </p:txBody>
      </p:sp>
      <p:sp>
        <p:nvSpPr>
          <p:cNvPr id="16" name="TextBox 15"/>
          <p:cNvSpPr txBox="1"/>
          <p:nvPr/>
        </p:nvSpPr>
        <p:spPr>
          <a:xfrm>
            <a:off x="822960" y="5440680"/>
            <a:ext cx="9144000" cy="365760"/>
          </a:xfrm>
          <a:prstGeom prst="rect">
            <a:avLst/>
          </a:prstGeom>
          <a:noFill/>
        </p:spPr>
        <p:txBody>
          <a:bodyPr wrap="square" lIns="45720" rIns="45720" anchor="t">
            <a:spAutoFit/>
          </a:bodyPr>
          <a:lstStyle/>
          <a:p>
            <a:pPr algn="l">
              <a:spcAft>
                <a:spcPts val="400"/>
              </a:spcAft>
            </a:pPr>
            <a:r>
              <a:rPr sz="1300" b="0" i="0">
                <a:solidFill>
                  <a:srgbClr val="9FB6C8"/>
                </a:solidFill>
                <a:latin typeface="Calibri"/>
              </a:rPr>
              <a:t>Universidad Externado de Colombia · Prof. Diana Pulido · 30 de octubre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Primero, lo que corregimos de la Fase 1</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Las cuatro observaciones de la retroalimentación, atendidas antes de avanzar</a:t>
            </a:r>
          </a:p>
        </p:txBody>
      </p:sp>
      <p:sp>
        <p:nvSpPr>
          <p:cNvPr id="4" name="Rounded Rectangle 3"/>
          <p:cNvSpPr/>
          <p:nvPr/>
        </p:nvSpPr>
        <p:spPr>
          <a:xfrm>
            <a:off x="548640" y="1600200"/>
            <a:ext cx="5440680" cy="20116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59" y="1892807"/>
            <a:ext cx="566928" cy="566928"/>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29D3C5"/>
                </a:solidFill>
                <a:latin typeface="Cambria"/>
              </a:rPr>
              <a:t>1</a:t>
            </a:r>
          </a:p>
        </p:txBody>
      </p:sp>
      <p:sp>
        <p:nvSpPr>
          <p:cNvPr id="6" name="TextBox 5"/>
          <p:cNvSpPr txBox="1"/>
          <p:nvPr/>
        </p:nvSpPr>
        <p:spPr>
          <a:xfrm>
            <a:off x="1600200" y="1874519"/>
            <a:ext cx="4206240" cy="457200"/>
          </a:xfrm>
          <a:prstGeom prst="rect">
            <a:avLst/>
          </a:prstGeom>
          <a:noFill/>
        </p:spPr>
        <p:txBody>
          <a:bodyPr wrap="square" lIns="45720" rIns="45720" anchor="t">
            <a:spAutoFit/>
          </a:bodyPr>
          <a:lstStyle/>
          <a:p>
            <a:pPr algn="l">
              <a:spcAft>
                <a:spcPts val="400"/>
              </a:spcAft>
            </a:pPr>
            <a:r>
              <a:rPr sz="1900" b="1" i="0">
                <a:solidFill>
                  <a:srgbClr val="0B2E4F"/>
                </a:solidFill>
                <a:latin typeface="Cambria"/>
              </a:rPr>
              <a:t>Piloto real de calibración</a:t>
            </a:r>
          </a:p>
        </p:txBody>
      </p:sp>
      <p:sp>
        <p:nvSpPr>
          <p:cNvPr id="7" name="TextBox 6"/>
          <p:cNvSpPr txBox="1"/>
          <p:nvPr/>
        </p:nvSpPr>
        <p:spPr>
          <a:xfrm>
            <a:off x="1600200" y="2377440"/>
            <a:ext cx="4206240" cy="1188720"/>
          </a:xfrm>
          <a:prstGeom prst="rect">
            <a:avLst/>
          </a:prstGeom>
          <a:noFill/>
        </p:spPr>
        <p:txBody>
          <a:bodyPr wrap="square" lIns="45720" rIns="45720" anchor="t">
            <a:spAutoFit/>
          </a:bodyPr>
          <a:lstStyle/>
          <a:p>
            <a:pPr algn="l">
              <a:spcAft>
                <a:spcPts val="400"/>
              </a:spcAft>
            </a:pPr>
            <a:r>
              <a:rPr sz="1400" b="0" i="0">
                <a:solidFill>
                  <a:srgbClr val="4A5560"/>
                </a:solidFill>
                <a:latin typeface="Calibri"/>
              </a:rPr>
              <a:t>3 520 lecturas reales de los autores + piloto propio con un script que lee el RSSI en dBm. Contrastamos rangos, ruido y detección.</a:t>
            </a:r>
          </a:p>
        </p:txBody>
      </p:sp>
      <p:sp>
        <p:nvSpPr>
          <p:cNvPr id="8" name="Rounded Rectangle 7"/>
          <p:cNvSpPr/>
          <p:nvPr/>
        </p:nvSpPr>
        <p:spPr>
          <a:xfrm>
            <a:off x="6172200" y="1600200"/>
            <a:ext cx="5440680" cy="20116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46520" y="1892807"/>
            <a:ext cx="566928" cy="566928"/>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29D3C5"/>
                </a:solidFill>
                <a:latin typeface="Cambria"/>
              </a:rPr>
              <a:t>2</a:t>
            </a:r>
          </a:p>
        </p:txBody>
      </p:sp>
      <p:sp>
        <p:nvSpPr>
          <p:cNvPr id="10" name="TextBox 9"/>
          <p:cNvSpPr txBox="1"/>
          <p:nvPr/>
        </p:nvSpPr>
        <p:spPr>
          <a:xfrm>
            <a:off x="7223760" y="1874519"/>
            <a:ext cx="4206240" cy="457200"/>
          </a:xfrm>
          <a:prstGeom prst="rect">
            <a:avLst/>
          </a:prstGeom>
          <a:noFill/>
        </p:spPr>
        <p:txBody>
          <a:bodyPr wrap="square" lIns="45720" rIns="45720" anchor="t">
            <a:spAutoFit/>
          </a:bodyPr>
          <a:lstStyle/>
          <a:p>
            <a:pPr algn="l">
              <a:spcAft>
                <a:spcPts val="400"/>
              </a:spcAft>
            </a:pPr>
            <a:r>
              <a:rPr sz="1900" b="1" i="0">
                <a:solidFill>
                  <a:srgbClr val="0B2E4F"/>
                </a:solidFill>
                <a:latin typeface="Cambria"/>
              </a:rPr>
              <a:t>Supuestos verificados</a:t>
            </a:r>
          </a:p>
        </p:txBody>
      </p:sp>
      <p:sp>
        <p:nvSpPr>
          <p:cNvPr id="11" name="TextBox 10"/>
          <p:cNvSpPr txBox="1"/>
          <p:nvPr/>
        </p:nvSpPr>
        <p:spPr>
          <a:xfrm>
            <a:off x="7223760" y="2377440"/>
            <a:ext cx="4206240" cy="1188720"/>
          </a:xfrm>
          <a:prstGeom prst="rect">
            <a:avLst/>
          </a:prstGeom>
          <a:noFill/>
        </p:spPr>
        <p:txBody>
          <a:bodyPr wrap="square" lIns="45720" rIns="45720" anchor="t">
            <a:spAutoFit/>
          </a:bodyPr>
          <a:lstStyle/>
          <a:p>
            <a:pPr algn="l">
              <a:spcAft>
                <a:spcPts val="400"/>
              </a:spcAft>
            </a:pPr>
            <a:r>
              <a:rPr sz="1400" b="0" i="0">
                <a:solidFill>
                  <a:srgbClr val="4A5560"/>
                </a:solidFill>
                <a:latin typeface="Calibri"/>
              </a:rPr>
              <a:t>Separabilidad, normalidad por clase, independencia (NB) y covarianza común (LDA), probados sobre entrenamiento.</a:t>
            </a:r>
          </a:p>
        </p:txBody>
      </p:sp>
      <p:sp>
        <p:nvSpPr>
          <p:cNvPr id="12" name="Rounded Rectangle 11"/>
          <p:cNvSpPr/>
          <p:nvPr/>
        </p:nvSpPr>
        <p:spPr>
          <a:xfrm>
            <a:off x="548640" y="3840480"/>
            <a:ext cx="5440680" cy="20116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2959" y="4133088"/>
            <a:ext cx="566928" cy="566928"/>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29D3C5"/>
                </a:solidFill>
                <a:latin typeface="Cambria"/>
              </a:rPr>
              <a:t>3</a:t>
            </a:r>
          </a:p>
        </p:txBody>
      </p:sp>
      <p:sp>
        <p:nvSpPr>
          <p:cNvPr id="14" name="TextBox 13"/>
          <p:cNvSpPr txBox="1"/>
          <p:nvPr/>
        </p:nvSpPr>
        <p:spPr>
          <a:xfrm>
            <a:off x="1600200" y="4114800"/>
            <a:ext cx="4206240" cy="457200"/>
          </a:xfrm>
          <a:prstGeom prst="rect">
            <a:avLst/>
          </a:prstGeom>
          <a:noFill/>
        </p:spPr>
        <p:txBody>
          <a:bodyPr wrap="square" lIns="45720" rIns="45720" anchor="t">
            <a:spAutoFit/>
          </a:bodyPr>
          <a:lstStyle/>
          <a:p>
            <a:pPr algn="l">
              <a:spcAft>
                <a:spcPts val="400"/>
              </a:spcAft>
            </a:pPr>
            <a:r>
              <a:rPr sz="1900" b="1" i="0">
                <a:solidFill>
                  <a:srgbClr val="0B2E4F"/>
                </a:solidFill>
                <a:latin typeface="Cambria"/>
              </a:rPr>
              <a:t>Faltantes dentro del Pipeline</a:t>
            </a:r>
          </a:p>
        </p:txBody>
      </p:sp>
      <p:sp>
        <p:nvSpPr>
          <p:cNvPr id="15" name="TextBox 14"/>
          <p:cNvSpPr txBox="1"/>
          <p:nvPr/>
        </p:nvSpPr>
        <p:spPr>
          <a:xfrm>
            <a:off x="1600200" y="4617720"/>
            <a:ext cx="4206240" cy="1188720"/>
          </a:xfrm>
          <a:prstGeom prst="rect">
            <a:avLst/>
          </a:prstGeom>
          <a:noFill/>
        </p:spPr>
        <p:txBody>
          <a:bodyPr wrap="square" lIns="45720" rIns="45720" anchor="t">
            <a:spAutoFit/>
          </a:bodyPr>
          <a:lstStyle/>
          <a:p>
            <a:pPr algn="l">
              <a:spcAft>
                <a:spcPts val="400"/>
              </a:spcAft>
            </a:pPr>
            <a:r>
              <a:rPr sz="1400" b="0" i="0">
                <a:solidFill>
                  <a:srgbClr val="4A5560"/>
                </a:solidFill>
                <a:latin typeface="Calibri"/>
              </a:rPr>
              <a:t>Fallas de AP y detección intermitente simuladas; la imputación se ajusta solo con el pliegue de entrenamiento.</a:t>
            </a:r>
          </a:p>
        </p:txBody>
      </p:sp>
      <p:sp>
        <p:nvSpPr>
          <p:cNvPr id="16" name="Rounded Rectangle 15"/>
          <p:cNvSpPr/>
          <p:nvPr/>
        </p:nvSpPr>
        <p:spPr>
          <a:xfrm>
            <a:off x="6172200" y="3840480"/>
            <a:ext cx="5440680" cy="20116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46520" y="4133088"/>
            <a:ext cx="566928" cy="566928"/>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29D3C5"/>
                </a:solidFill>
                <a:latin typeface="Cambria"/>
              </a:rPr>
              <a:t>4</a:t>
            </a:r>
          </a:p>
        </p:txBody>
      </p:sp>
      <p:sp>
        <p:nvSpPr>
          <p:cNvPr id="18" name="TextBox 17"/>
          <p:cNvSpPr txBox="1"/>
          <p:nvPr/>
        </p:nvSpPr>
        <p:spPr>
          <a:xfrm>
            <a:off x="7223760" y="4114800"/>
            <a:ext cx="4206240" cy="457200"/>
          </a:xfrm>
          <a:prstGeom prst="rect">
            <a:avLst/>
          </a:prstGeom>
          <a:noFill/>
        </p:spPr>
        <p:txBody>
          <a:bodyPr wrap="square" lIns="45720" rIns="45720" anchor="t">
            <a:spAutoFit/>
          </a:bodyPr>
          <a:lstStyle/>
          <a:p>
            <a:pPr algn="l">
              <a:spcAft>
                <a:spcPts val="400"/>
              </a:spcAft>
            </a:pPr>
            <a:r>
              <a:rPr sz="1900" b="1" i="0">
                <a:solidFill>
                  <a:srgbClr val="0B2E4F"/>
                </a:solidFill>
                <a:latin typeface="Cambria"/>
              </a:rPr>
              <a:t>Uso de IA declarado</a:t>
            </a:r>
          </a:p>
        </p:txBody>
      </p:sp>
      <p:sp>
        <p:nvSpPr>
          <p:cNvPr id="19" name="TextBox 18"/>
          <p:cNvSpPr txBox="1"/>
          <p:nvPr/>
        </p:nvSpPr>
        <p:spPr>
          <a:xfrm>
            <a:off x="7223760" y="4617720"/>
            <a:ext cx="4206240" cy="1188720"/>
          </a:xfrm>
          <a:prstGeom prst="rect">
            <a:avLst/>
          </a:prstGeom>
          <a:noFill/>
        </p:spPr>
        <p:txBody>
          <a:bodyPr wrap="square" lIns="45720" rIns="45720" anchor="t">
            <a:spAutoFit/>
          </a:bodyPr>
          <a:lstStyle/>
          <a:p>
            <a:pPr algn="l">
              <a:spcAft>
                <a:spcPts val="400"/>
              </a:spcAft>
            </a:pPr>
            <a:r>
              <a:rPr sz="1400" b="0" i="0">
                <a:solidFill>
                  <a:srgbClr val="4A5560"/>
                </a:solidFill>
                <a:latin typeface="Calibri"/>
              </a:rPr>
              <a:t>Declaración explícita en el informe y en el notebook; entendemos y sustentamos cada decisión.</a:t>
            </a:r>
          </a:p>
        </p:txBody>
      </p:sp>
      <p:sp>
        <p:nvSpPr>
          <p:cNvPr id="20" name="TextBox 19"/>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21" name="TextBox 20"/>
          <p:cNvSpPr txBox="1"/>
          <p:nvPr/>
        </p:nvSpPr>
        <p:spPr>
          <a:xfrm>
            <a:off x="10881360" y="6428232"/>
            <a:ext cx="777240" cy="274320"/>
          </a:xfrm>
          <a:prstGeom prst="rect">
            <a:avLst/>
          </a:prstGeom>
          <a:noFill/>
        </p:spPr>
        <p:txBody>
          <a:bodyPr wrap="square" lIns="45720" rIns="45720" anchor="t">
            <a:spAutoFit/>
          </a:bodyPr>
          <a:lstStyle/>
          <a:p>
            <a:pPr algn="r">
              <a:spcAft>
                <a:spcPts val="400"/>
              </a:spcAft>
            </a:pPr>
            <a:r>
              <a:rPr sz="1000" b="0" i="0">
                <a:solidFill>
                  <a:srgbClr val="898781"/>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413373"/>
            <a:ext cx="11064240" cy="553998"/>
          </a:xfrm>
          <a:prstGeom prst="rect">
            <a:avLst/>
          </a:prstGeom>
          <a:noFill/>
        </p:spPr>
        <p:txBody>
          <a:bodyPr wrap="square" lIns="45720" rIns="45720" anchor="ctr">
            <a:spAutoFit/>
          </a:bodyPr>
          <a:lstStyle/>
          <a:p>
            <a:pPr algn="l">
              <a:spcAft>
                <a:spcPts val="400"/>
              </a:spcAft>
            </a:pPr>
            <a:r>
              <a:rPr lang="es-MX" sz="3000" b="1" i="0">
                <a:solidFill>
                  <a:srgbClr val="0B2E4F"/>
                </a:solidFill>
                <a:latin typeface="Cambria"/>
              </a:rPr>
              <a:t>Qué cambió respecto al plan de la Fase 1</a:t>
            </a:r>
            <a:endParaRPr sz="3000" b="1" i="0">
              <a:solidFill>
                <a:srgbClr val="0B2E4F"/>
              </a:solidFill>
              <a:latin typeface="Cambria"/>
            </a:endParaRPr>
          </a:p>
        </p:txBody>
      </p:sp>
      <p:sp>
        <p:nvSpPr>
          <p:cNvPr id="3" name="TextBox 2"/>
          <p:cNvSpPr txBox="1"/>
          <p:nvPr/>
        </p:nvSpPr>
        <p:spPr>
          <a:xfrm>
            <a:off x="548640" y="987552"/>
            <a:ext cx="11064240" cy="323165"/>
          </a:xfrm>
          <a:prstGeom prst="rect">
            <a:avLst/>
          </a:prstGeom>
          <a:noFill/>
        </p:spPr>
        <p:txBody>
          <a:bodyPr wrap="square" lIns="45720" rIns="45720" anchor="t">
            <a:spAutoFit/>
          </a:bodyPr>
          <a:lstStyle/>
          <a:p>
            <a:pPr algn="l">
              <a:spcAft>
                <a:spcPts val="400"/>
              </a:spcAft>
            </a:pPr>
            <a:r>
              <a:rPr lang="es-MX" sz="1500" b="0" i="1">
                <a:solidFill>
                  <a:srgbClr val="1C7293"/>
                </a:solidFill>
                <a:latin typeface="Calibri"/>
              </a:rPr>
              <a:t>Tres decisiones que revisamos al contrastar con datos reales y con la validación cruzada</a:t>
            </a:r>
            <a:endParaRPr sz="1500" b="0" i="1">
              <a:solidFill>
                <a:srgbClr val="1C7293"/>
              </a:solidFill>
              <a:latin typeface="Calibri"/>
            </a:endParaRPr>
          </a:p>
        </p:txBody>
      </p:sp>
      <p:sp>
        <p:nvSpPr>
          <p:cNvPr id="20" name="TextBox 19"/>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21" name="TextBox 20"/>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3</a:t>
            </a:r>
            <a:endParaRPr sz="1000" b="0" i="0">
              <a:solidFill>
                <a:srgbClr val="898781"/>
              </a:solidFill>
              <a:latin typeface="Calibri"/>
            </a:endParaRPr>
          </a:p>
        </p:txBody>
      </p:sp>
      <p:sp>
        <p:nvSpPr>
          <p:cNvPr id="22" name="Header 0">
            <a:extLst>
              <a:ext uri="{FF2B5EF4-FFF2-40B4-BE49-F238E27FC236}">
                <a16:creationId xmlns:a16="http://schemas.microsoft.com/office/drawing/2014/main" id="{2D775E37-F91B-4A06-B7E3-F89F61E7F7F9}"/>
              </a:ext>
            </a:extLst>
          </p:cNvPr>
          <p:cNvSpPr txBox="1"/>
          <p:nvPr/>
        </p:nvSpPr>
        <p:spPr>
          <a:xfrm>
            <a:off x="3378200" y="1435100"/>
            <a:ext cx="2489200" cy="279400"/>
          </a:xfrm>
          <a:prstGeom prst="rect">
            <a:avLst/>
          </a:prstGeom>
          <a:noFill/>
        </p:spPr>
        <p:txBody>
          <a:bodyPr vert="horz" wrap="square" lIns="45720" tIns="45720" rIns="45720" bIns="45720" rtlCol="0" anchor="t">
            <a:noAutofit/>
          </a:bodyPr>
          <a:lstStyle/>
          <a:p>
            <a:r>
              <a:rPr lang="es-MX" sz="1100" b="1">
                <a:solidFill>
                  <a:srgbClr val="1C7293"/>
                </a:solidFill>
                <a:latin typeface="Calibri" panose="020F0502020204030204" pitchFamily="34" charset="0"/>
              </a:rPr>
              <a:t>FASE 1 · PLAN</a:t>
            </a:r>
          </a:p>
        </p:txBody>
      </p:sp>
      <p:sp>
        <p:nvSpPr>
          <p:cNvPr id="23" name="Header 1">
            <a:extLst>
              <a:ext uri="{FF2B5EF4-FFF2-40B4-BE49-F238E27FC236}">
                <a16:creationId xmlns:a16="http://schemas.microsoft.com/office/drawing/2014/main" id="{960F1579-0AFF-41CB-90E3-2CBD72C87FA3}"/>
              </a:ext>
            </a:extLst>
          </p:cNvPr>
          <p:cNvSpPr txBox="1"/>
          <p:nvPr/>
        </p:nvSpPr>
        <p:spPr>
          <a:xfrm>
            <a:off x="6324600" y="1435100"/>
            <a:ext cx="2616200" cy="279400"/>
          </a:xfrm>
          <a:prstGeom prst="rect">
            <a:avLst/>
          </a:prstGeom>
          <a:noFill/>
        </p:spPr>
        <p:txBody>
          <a:bodyPr vert="horz" wrap="square" lIns="45720" tIns="45720" rIns="45720" bIns="45720" rtlCol="0" anchor="t">
            <a:noAutofit/>
          </a:bodyPr>
          <a:lstStyle/>
          <a:p>
            <a:r>
              <a:rPr lang="es-MX" sz="1100" b="1">
                <a:solidFill>
                  <a:srgbClr val="1C7293"/>
                </a:solidFill>
                <a:latin typeface="Calibri" panose="020F0502020204030204" pitchFamily="34" charset="0"/>
              </a:rPr>
              <a:t>FASE 2 · LO QUE HICIMOS</a:t>
            </a:r>
          </a:p>
        </p:txBody>
      </p:sp>
      <p:sp>
        <p:nvSpPr>
          <p:cNvPr id="24" name="Header 2">
            <a:extLst>
              <a:ext uri="{FF2B5EF4-FFF2-40B4-BE49-F238E27FC236}">
                <a16:creationId xmlns:a16="http://schemas.microsoft.com/office/drawing/2014/main" id="{3B55415F-DD81-44BE-B5AB-CB9A78D08818}"/>
              </a:ext>
            </a:extLst>
          </p:cNvPr>
          <p:cNvSpPr txBox="1"/>
          <p:nvPr/>
        </p:nvSpPr>
        <p:spPr>
          <a:xfrm>
            <a:off x="9093200" y="1435100"/>
            <a:ext cx="2489200" cy="279400"/>
          </a:xfrm>
          <a:prstGeom prst="rect">
            <a:avLst/>
          </a:prstGeom>
          <a:noFill/>
        </p:spPr>
        <p:txBody>
          <a:bodyPr vert="horz" wrap="square" lIns="45720" tIns="45720" rIns="45720" bIns="45720" rtlCol="0" anchor="t">
            <a:noAutofit/>
          </a:bodyPr>
          <a:lstStyle/>
          <a:p>
            <a:r>
              <a:rPr lang="es-MX" sz="1100" b="1">
                <a:solidFill>
                  <a:srgbClr val="1C7293"/>
                </a:solidFill>
                <a:latin typeface="Calibri" panose="020F0502020204030204" pitchFamily="34" charset="0"/>
              </a:rPr>
              <a:t>POR QUÉ</a:t>
            </a:r>
          </a:p>
        </p:txBody>
      </p:sp>
      <p:sp>
        <p:nvSpPr>
          <p:cNvPr id="25" name="Row card 1">
            <a:extLst>
              <a:ext uri="{FF2B5EF4-FFF2-40B4-BE49-F238E27FC236}">
                <a16:creationId xmlns:a16="http://schemas.microsoft.com/office/drawing/2014/main" id="{D91FDE6E-8B84-4D63-92FD-642A943B5CB6}"/>
              </a:ext>
            </a:extLst>
          </p:cNvPr>
          <p:cNvSpPr/>
          <p:nvPr/>
        </p:nvSpPr>
        <p:spPr>
          <a:xfrm>
            <a:off x="546100" y="1778000"/>
            <a:ext cx="11112500" cy="132080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w number 1">
            <a:extLst>
              <a:ext uri="{FF2B5EF4-FFF2-40B4-BE49-F238E27FC236}">
                <a16:creationId xmlns:a16="http://schemas.microsoft.com/office/drawing/2014/main" id="{D97BD637-1D92-430F-A745-0DE662973707}"/>
              </a:ext>
            </a:extLst>
          </p:cNvPr>
          <p:cNvSpPr/>
          <p:nvPr/>
        </p:nvSpPr>
        <p:spPr>
          <a:xfrm>
            <a:off x="774700" y="2184400"/>
            <a:ext cx="508000" cy="508000"/>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600" b="1">
                <a:solidFill>
                  <a:srgbClr val="29D3C5"/>
                </a:solidFill>
                <a:latin typeface="Cambria"/>
              </a:rPr>
              <a:t>1</a:t>
            </a:r>
            <a:endParaRPr sz="1600" b="1">
              <a:solidFill>
                <a:srgbClr val="29D3C5"/>
              </a:solidFill>
              <a:latin typeface="Cambria"/>
            </a:endParaRPr>
          </a:p>
        </p:txBody>
      </p:sp>
      <p:sp>
        <p:nvSpPr>
          <p:cNvPr id="27" name="Row topic 1">
            <a:extLst>
              <a:ext uri="{FF2B5EF4-FFF2-40B4-BE49-F238E27FC236}">
                <a16:creationId xmlns:a16="http://schemas.microsoft.com/office/drawing/2014/main" id="{AE0A281C-8C7B-4E38-A94B-2095BFB61077}"/>
              </a:ext>
            </a:extLst>
          </p:cNvPr>
          <p:cNvSpPr txBox="1"/>
          <p:nvPr/>
        </p:nvSpPr>
        <p:spPr>
          <a:xfrm>
            <a:off x="1397000" y="1905000"/>
            <a:ext cx="1778000" cy="1066800"/>
          </a:xfrm>
          <a:prstGeom prst="rect">
            <a:avLst/>
          </a:prstGeom>
          <a:noFill/>
        </p:spPr>
        <p:txBody>
          <a:bodyPr vert="horz" wrap="square" lIns="45720" tIns="45720" rIns="45720" bIns="45720" rtlCol="0" anchor="ctr">
            <a:noAutofit/>
          </a:bodyPr>
          <a:lstStyle/>
          <a:p>
            <a:r>
              <a:rPr lang="es-MX" b="1">
                <a:solidFill>
                  <a:srgbClr val="0B2E4F"/>
                </a:solidFill>
                <a:latin typeface="Cambria" panose="02040503050406030204" pitchFamily="18" charset="0"/>
              </a:rPr>
              <a:t>Ruido de la simulación</a:t>
            </a:r>
          </a:p>
        </p:txBody>
      </p:sp>
      <p:sp>
        <p:nvSpPr>
          <p:cNvPr id="28" name="Row before 1">
            <a:extLst>
              <a:ext uri="{FF2B5EF4-FFF2-40B4-BE49-F238E27FC236}">
                <a16:creationId xmlns:a16="http://schemas.microsoft.com/office/drawing/2014/main" id="{DCAD3065-B032-421F-826D-DA4DD239D86F}"/>
              </a:ext>
            </a:extLst>
          </p:cNvPr>
          <p:cNvSpPr txBox="1"/>
          <p:nvPr/>
        </p:nvSpPr>
        <p:spPr>
          <a:xfrm>
            <a:off x="3327400" y="1905000"/>
            <a:ext cx="2489200" cy="1066800"/>
          </a:xfrm>
          <a:prstGeom prst="rect">
            <a:avLst/>
          </a:prstGeom>
          <a:noFill/>
        </p:spPr>
        <p:txBody>
          <a:bodyPr vert="horz" wrap="square" lIns="45720" tIns="45720" rIns="45720" bIns="45720" rtlCol="0" anchor="ctr">
            <a:noAutofit/>
          </a:bodyPr>
          <a:lstStyle/>
          <a:p>
            <a:r>
              <a:rPr lang="es-MX" sz="1400">
                <a:solidFill>
                  <a:srgbClr val="4A5560"/>
                </a:solidFill>
                <a:latin typeface="Calibri" panose="020F0502020204030204" pitchFamily="34" charset="0"/>
              </a:rPr>
              <a:t>6 dB de ruido gaussiano en cada lectura</a:t>
            </a:r>
          </a:p>
        </p:txBody>
      </p:sp>
      <p:cxnSp>
        <p:nvCxnSpPr>
          <p:cNvPr id="29" name="Row arrow 1">
            <a:extLst>
              <a:ext uri="{FF2B5EF4-FFF2-40B4-BE49-F238E27FC236}">
                <a16:creationId xmlns:a16="http://schemas.microsoft.com/office/drawing/2014/main" id="{7809503D-7D4E-414B-A41F-EC1EB5B31A19}"/>
              </a:ext>
            </a:extLst>
          </p:cNvPr>
          <p:cNvCxnSpPr/>
          <p:nvPr/>
        </p:nvCxnSpPr>
        <p:spPr>
          <a:xfrm>
            <a:off x="5867400" y="2438400"/>
            <a:ext cx="304800" cy="0"/>
          </a:xfrm>
          <a:prstGeom prst="straightConnector1">
            <a:avLst/>
          </a:prstGeom>
          <a:ln w="2540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30" name="Row after panel 1">
            <a:extLst>
              <a:ext uri="{FF2B5EF4-FFF2-40B4-BE49-F238E27FC236}">
                <a16:creationId xmlns:a16="http://schemas.microsoft.com/office/drawing/2014/main" id="{305C5ECD-9801-43BB-BD4C-470318770584}"/>
              </a:ext>
            </a:extLst>
          </p:cNvPr>
          <p:cNvSpPr/>
          <p:nvPr/>
        </p:nvSpPr>
        <p:spPr>
          <a:xfrm>
            <a:off x="6273800" y="1905000"/>
            <a:ext cx="2616200" cy="1066800"/>
          </a:xfrm>
          <a:prstGeom prst="roundRect">
            <a:avLst>
              <a:gd name="adj" fmla="val 6000"/>
            </a:avLst>
          </a:prstGeom>
          <a:solidFill>
            <a:srgbClr val="0B2E4F"/>
          </a:solidFill>
          <a:ln w="9525" cap="flat" cmpd="sng" algn="ctr">
            <a:noFill/>
            <a:prstDash val="solid"/>
          </a:ln>
          <a:effectLst/>
          <a:extLst>
            <a:ext uri="{91240B29-F687-4F45-9708-019B960494DF}">
              <a14:hiddenLine xmlns:a14="http://schemas.microsoft.com/office/drawing/2010/main" w="9525" cap="flat" cmpd="sng" algn="ctr">
                <a:solidFill>
                  <a:srgbClr val="D6E2EA"/>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w after 1">
            <a:extLst>
              <a:ext uri="{FF2B5EF4-FFF2-40B4-BE49-F238E27FC236}">
                <a16:creationId xmlns:a16="http://schemas.microsoft.com/office/drawing/2014/main" id="{FE9E7540-39E9-41A7-8684-E94F887EB598}"/>
              </a:ext>
            </a:extLst>
          </p:cNvPr>
          <p:cNvSpPr txBox="1"/>
          <p:nvPr/>
        </p:nvSpPr>
        <p:spPr>
          <a:xfrm>
            <a:off x="6350000" y="1955800"/>
            <a:ext cx="2489200" cy="965200"/>
          </a:xfrm>
          <a:prstGeom prst="rect">
            <a:avLst/>
          </a:prstGeom>
          <a:noFill/>
        </p:spPr>
        <p:txBody>
          <a:bodyPr vert="horz" wrap="square" lIns="45720" tIns="45720" rIns="45720" bIns="45720" rtlCol="0" anchor="ctr">
            <a:noAutofit/>
          </a:bodyPr>
          <a:lstStyle/>
          <a:p>
            <a:r>
              <a:rPr lang="es-MX" sz="1400" b="1">
                <a:solidFill>
                  <a:srgbClr val="FFFFFF"/>
                </a:solidFill>
                <a:latin typeface="Calibri" panose="020F0502020204030204" pitchFamily="34" charset="0"/>
              </a:rPr>
              <a:t>≈ 5 dB de sombra espacial + ≈ 1 dB entre lecturas + deriva diaria</a:t>
            </a:r>
          </a:p>
        </p:txBody>
      </p:sp>
      <p:sp>
        <p:nvSpPr>
          <p:cNvPr id="32" name="Row why 1">
            <a:extLst>
              <a:ext uri="{FF2B5EF4-FFF2-40B4-BE49-F238E27FC236}">
                <a16:creationId xmlns:a16="http://schemas.microsoft.com/office/drawing/2014/main" id="{EF96E6E3-BE04-4CDF-84B6-66D8AF6DB889}"/>
              </a:ext>
            </a:extLst>
          </p:cNvPr>
          <p:cNvSpPr txBox="1"/>
          <p:nvPr/>
        </p:nvSpPr>
        <p:spPr>
          <a:xfrm>
            <a:off x="9042400" y="1905000"/>
            <a:ext cx="2489200" cy="1066800"/>
          </a:xfrm>
          <a:prstGeom prst="rect">
            <a:avLst/>
          </a:prstGeom>
          <a:noFill/>
        </p:spPr>
        <p:txBody>
          <a:bodyPr vert="horz" wrap="square" lIns="45720" tIns="45720" rIns="45720" bIns="45720" rtlCol="0" anchor="ctr">
            <a:noAutofit/>
          </a:bodyPr>
          <a:lstStyle/>
          <a:p>
            <a:r>
              <a:rPr lang="es-MX" sz="1300">
                <a:solidFill>
                  <a:srgbClr val="4A5560"/>
                </a:solidFill>
                <a:latin typeface="Calibri" panose="020F0502020204030204" pitchFamily="34" charset="0"/>
              </a:rPr>
              <a:t>Así lo muestran las 3 520 lecturas reales de los autores (siguiente diapositiva).</a:t>
            </a:r>
          </a:p>
        </p:txBody>
      </p:sp>
      <p:sp>
        <p:nvSpPr>
          <p:cNvPr id="33" name="Row card 2">
            <a:extLst>
              <a:ext uri="{FF2B5EF4-FFF2-40B4-BE49-F238E27FC236}">
                <a16:creationId xmlns:a16="http://schemas.microsoft.com/office/drawing/2014/main" id="{CC59366D-F860-4854-A083-299843E97F0A}"/>
              </a:ext>
            </a:extLst>
          </p:cNvPr>
          <p:cNvSpPr/>
          <p:nvPr/>
        </p:nvSpPr>
        <p:spPr>
          <a:xfrm>
            <a:off x="546100" y="3251200"/>
            <a:ext cx="11112500" cy="132080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w number 2">
            <a:extLst>
              <a:ext uri="{FF2B5EF4-FFF2-40B4-BE49-F238E27FC236}">
                <a16:creationId xmlns:a16="http://schemas.microsoft.com/office/drawing/2014/main" id="{251348F0-5D8B-4ABC-97D7-C886192C1AF6}"/>
              </a:ext>
            </a:extLst>
          </p:cNvPr>
          <p:cNvSpPr/>
          <p:nvPr/>
        </p:nvSpPr>
        <p:spPr>
          <a:xfrm>
            <a:off x="774700" y="3657600"/>
            <a:ext cx="508000" cy="508000"/>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600" b="1">
                <a:solidFill>
                  <a:srgbClr val="29D3C5"/>
                </a:solidFill>
                <a:latin typeface="Cambria"/>
              </a:rPr>
              <a:t>2</a:t>
            </a:r>
            <a:endParaRPr sz="1600" b="1">
              <a:solidFill>
                <a:srgbClr val="29D3C5"/>
              </a:solidFill>
              <a:latin typeface="Cambria"/>
            </a:endParaRPr>
          </a:p>
        </p:txBody>
      </p:sp>
      <p:sp>
        <p:nvSpPr>
          <p:cNvPr id="35" name="Row topic 2">
            <a:extLst>
              <a:ext uri="{FF2B5EF4-FFF2-40B4-BE49-F238E27FC236}">
                <a16:creationId xmlns:a16="http://schemas.microsoft.com/office/drawing/2014/main" id="{48EED61E-0BB5-401D-8910-21ACEE5B1A3C}"/>
              </a:ext>
            </a:extLst>
          </p:cNvPr>
          <p:cNvSpPr txBox="1"/>
          <p:nvPr/>
        </p:nvSpPr>
        <p:spPr>
          <a:xfrm>
            <a:off x="1397000" y="3378200"/>
            <a:ext cx="1778000" cy="1066800"/>
          </a:xfrm>
          <a:prstGeom prst="rect">
            <a:avLst/>
          </a:prstGeom>
          <a:noFill/>
        </p:spPr>
        <p:txBody>
          <a:bodyPr vert="horz" wrap="square" lIns="45720" tIns="45720" rIns="45720" bIns="45720" rtlCol="0" anchor="ctr">
            <a:noAutofit/>
          </a:bodyPr>
          <a:lstStyle/>
          <a:p>
            <a:r>
              <a:rPr lang="es-MX" b="1">
                <a:solidFill>
                  <a:srgbClr val="0B2E4F"/>
                </a:solidFill>
                <a:latin typeface="Cambria" panose="02040503050406030204" pitchFamily="18" charset="0"/>
              </a:rPr>
              <a:t>Validación</a:t>
            </a:r>
          </a:p>
        </p:txBody>
      </p:sp>
      <p:sp>
        <p:nvSpPr>
          <p:cNvPr id="36" name="Row before 2">
            <a:extLst>
              <a:ext uri="{FF2B5EF4-FFF2-40B4-BE49-F238E27FC236}">
                <a16:creationId xmlns:a16="http://schemas.microsoft.com/office/drawing/2014/main" id="{4B486D3B-5039-424C-AB1B-107D1615D7D9}"/>
              </a:ext>
            </a:extLst>
          </p:cNvPr>
          <p:cNvSpPr txBox="1"/>
          <p:nvPr/>
        </p:nvSpPr>
        <p:spPr>
          <a:xfrm>
            <a:off x="3327400" y="3378200"/>
            <a:ext cx="2489200" cy="1066800"/>
          </a:xfrm>
          <a:prstGeom prst="rect">
            <a:avLst/>
          </a:prstGeom>
          <a:noFill/>
        </p:spPr>
        <p:txBody>
          <a:bodyPr vert="horz" wrap="square" lIns="45720" tIns="45720" rIns="45720" bIns="45720" rtlCol="0" anchor="ctr">
            <a:noAutofit/>
          </a:bodyPr>
          <a:lstStyle/>
          <a:p>
            <a:r>
              <a:rPr lang="es-MX" sz="1400">
                <a:solidFill>
                  <a:srgbClr val="4A5560"/>
                </a:solidFill>
                <a:latin typeface="Calibri" panose="020F0502020204030204" pitchFamily="34" charset="0"/>
              </a:rPr>
              <a:t>Partición al azar 70/30 y CV de 5 pliegues al azar</a:t>
            </a:r>
          </a:p>
        </p:txBody>
      </p:sp>
      <p:cxnSp>
        <p:nvCxnSpPr>
          <p:cNvPr id="37" name="Row arrow 2">
            <a:extLst>
              <a:ext uri="{FF2B5EF4-FFF2-40B4-BE49-F238E27FC236}">
                <a16:creationId xmlns:a16="http://schemas.microsoft.com/office/drawing/2014/main" id="{E6553C57-7638-4F93-982D-79AC407715EC}"/>
              </a:ext>
            </a:extLst>
          </p:cNvPr>
          <p:cNvCxnSpPr/>
          <p:nvPr/>
        </p:nvCxnSpPr>
        <p:spPr>
          <a:xfrm>
            <a:off x="5867400" y="3911600"/>
            <a:ext cx="304800" cy="0"/>
          </a:xfrm>
          <a:prstGeom prst="straightConnector1">
            <a:avLst/>
          </a:prstGeom>
          <a:ln w="2540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38" name="Row after panel 2">
            <a:extLst>
              <a:ext uri="{FF2B5EF4-FFF2-40B4-BE49-F238E27FC236}">
                <a16:creationId xmlns:a16="http://schemas.microsoft.com/office/drawing/2014/main" id="{F2FAE98E-FA49-48AC-B1D3-3DA8634A977E}"/>
              </a:ext>
            </a:extLst>
          </p:cNvPr>
          <p:cNvSpPr/>
          <p:nvPr/>
        </p:nvSpPr>
        <p:spPr>
          <a:xfrm>
            <a:off x="6273800" y="3378200"/>
            <a:ext cx="2616200" cy="1066800"/>
          </a:xfrm>
          <a:prstGeom prst="roundRect">
            <a:avLst>
              <a:gd name="adj" fmla="val 6000"/>
            </a:avLst>
          </a:prstGeom>
          <a:solidFill>
            <a:srgbClr val="0B2E4F"/>
          </a:solidFill>
          <a:ln w="9525" cap="flat" cmpd="sng" algn="ctr">
            <a:noFill/>
            <a:prstDash val="solid"/>
          </a:ln>
          <a:effectLst/>
          <a:extLst>
            <a:ext uri="{91240B29-F687-4F45-9708-019B960494DF}">
              <a14:hiddenLine xmlns:a14="http://schemas.microsoft.com/office/drawing/2010/main" w="9525" cap="flat" cmpd="sng" algn="ctr">
                <a:solidFill>
                  <a:srgbClr val="D6E2EA"/>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w after 2">
            <a:extLst>
              <a:ext uri="{FF2B5EF4-FFF2-40B4-BE49-F238E27FC236}">
                <a16:creationId xmlns:a16="http://schemas.microsoft.com/office/drawing/2014/main" id="{BEAF544B-7596-42AE-9B3C-09F39606B6DE}"/>
              </a:ext>
            </a:extLst>
          </p:cNvPr>
          <p:cNvSpPr txBox="1"/>
          <p:nvPr/>
        </p:nvSpPr>
        <p:spPr>
          <a:xfrm>
            <a:off x="6350000" y="3429000"/>
            <a:ext cx="2489200" cy="965200"/>
          </a:xfrm>
          <a:prstGeom prst="rect">
            <a:avLst/>
          </a:prstGeom>
          <a:noFill/>
        </p:spPr>
        <p:txBody>
          <a:bodyPr vert="horz" wrap="square" lIns="45720" tIns="45720" rIns="45720" bIns="45720" rtlCol="0" anchor="ctr">
            <a:noAutofit/>
          </a:bodyPr>
          <a:lstStyle/>
          <a:p>
            <a:r>
              <a:rPr lang="es-MX" sz="1400" b="1">
                <a:solidFill>
                  <a:srgbClr val="FFFFFF"/>
                </a:solidFill>
                <a:latin typeface="Calibri" panose="020F0502020204030204" pitchFamily="34" charset="0"/>
              </a:rPr>
              <a:t>Días 1–10 entrenamiento, 11–14 prueba; GroupKFold por día</a:t>
            </a:r>
          </a:p>
        </p:txBody>
      </p:sp>
      <p:sp>
        <p:nvSpPr>
          <p:cNvPr id="40" name="Row why 2">
            <a:extLst>
              <a:ext uri="{FF2B5EF4-FFF2-40B4-BE49-F238E27FC236}">
                <a16:creationId xmlns:a16="http://schemas.microsoft.com/office/drawing/2014/main" id="{B4A77837-5FAF-4A2F-9DA0-E89622F89F7C}"/>
              </a:ext>
            </a:extLst>
          </p:cNvPr>
          <p:cNvSpPr txBox="1"/>
          <p:nvPr/>
        </p:nvSpPr>
        <p:spPr>
          <a:xfrm>
            <a:off x="9042400" y="3378200"/>
            <a:ext cx="2489200" cy="1066800"/>
          </a:xfrm>
          <a:prstGeom prst="rect">
            <a:avLst/>
          </a:prstGeom>
          <a:noFill/>
        </p:spPr>
        <p:txBody>
          <a:bodyPr vert="horz" wrap="square" lIns="45720" tIns="45720" rIns="45720" bIns="45720" rtlCol="0" anchor="ctr">
            <a:noAutofit/>
          </a:bodyPr>
          <a:lstStyle/>
          <a:p>
            <a:r>
              <a:rPr lang="es-MX" sz="1300">
                <a:solidFill>
                  <a:srgbClr val="4A5560"/>
                </a:solidFill>
                <a:latin typeface="Calibri" panose="020F0502020204030204" pitchFamily="34" charset="0"/>
              </a:rPr>
              <a:t>Las visitas de un día comparten deriva: al azar el modelo «reconoce el día». CV al azar 0.946 vs. por días 0.941.</a:t>
            </a:r>
          </a:p>
        </p:txBody>
      </p:sp>
      <p:sp>
        <p:nvSpPr>
          <p:cNvPr id="41" name="Row card 3">
            <a:extLst>
              <a:ext uri="{FF2B5EF4-FFF2-40B4-BE49-F238E27FC236}">
                <a16:creationId xmlns:a16="http://schemas.microsoft.com/office/drawing/2014/main" id="{74FEEB90-2DDD-45D9-A9EA-7C194623A53F}"/>
              </a:ext>
            </a:extLst>
          </p:cNvPr>
          <p:cNvSpPr/>
          <p:nvPr/>
        </p:nvSpPr>
        <p:spPr>
          <a:xfrm>
            <a:off x="546100" y="4724400"/>
            <a:ext cx="11112500" cy="132080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w number 3">
            <a:extLst>
              <a:ext uri="{FF2B5EF4-FFF2-40B4-BE49-F238E27FC236}">
                <a16:creationId xmlns:a16="http://schemas.microsoft.com/office/drawing/2014/main" id="{D57A29F6-9E3B-4E90-8356-D3B446E0A1CC}"/>
              </a:ext>
            </a:extLst>
          </p:cNvPr>
          <p:cNvSpPr/>
          <p:nvPr/>
        </p:nvSpPr>
        <p:spPr>
          <a:xfrm>
            <a:off x="774700" y="5130800"/>
            <a:ext cx="508000" cy="508000"/>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600" b="1">
                <a:solidFill>
                  <a:srgbClr val="29D3C5"/>
                </a:solidFill>
                <a:latin typeface="Cambria"/>
              </a:rPr>
              <a:t>3</a:t>
            </a:r>
            <a:endParaRPr sz="1600" b="1">
              <a:solidFill>
                <a:srgbClr val="29D3C5"/>
              </a:solidFill>
              <a:latin typeface="Cambria"/>
            </a:endParaRPr>
          </a:p>
        </p:txBody>
      </p:sp>
      <p:sp>
        <p:nvSpPr>
          <p:cNvPr id="43" name="Row topic 3">
            <a:extLst>
              <a:ext uri="{FF2B5EF4-FFF2-40B4-BE49-F238E27FC236}">
                <a16:creationId xmlns:a16="http://schemas.microsoft.com/office/drawing/2014/main" id="{78CC8E63-3C2E-4CCD-A310-049B7DC39EC1}"/>
              </a:ext>
            </a:extLst>
          </p:cNvPr>
          <p:cNvSpPr txBox="1"/>
          <p:nvPr/>
        </p:nvSpPr>
        <p:spPr>
          <a:xfrm>
            <a:off x="1397000" y="4851400"/>
            <a:ext cx="1778000" cy="1066800"/>
          </a:xfrm>
          <a:prstGeom prst="rect">
            <a:avLst/>
          </a:prstGeom>
          <a:noFill/>
        </p:spPr>
        <p:txBody>
          <a:bodyPr vert="horz" wrap="square" lIns="45720" tIns="45720" rIns="45720" bIns="45720" rtlCol="0" anchor="ctr">
            <a:noAutofit/>
          </a:bodyPr>
          <a:lstStyle/>
          <a:p>
            <a:r>
              <a:rPr lang="es-MX" b="1">
                <a:solidFill>
                  <a:srgbClr val="0B2E4F"/>
                </a:solidFill>
                <a:latin typeface="Cambria" panose="02040503050406030204" pitchFamily="18" charset="0"/>
              </a:rPr>
              <a:t>Distancia del kNN</a:t>
            </a:r>
          </a:p>
        </p:txBody>
      </p:sp>
      <p:sp>
        <p:nvSpPr>
          <p:cNvPr id="44" name="Row before 3">
            <a:extLst>
              <a:ext uri="{FF2B5EF4-FFF2-40B4-BE49-F238E27FC236}">
                <a16:creationId xmlns:a16="http://schemas.microsoft.com/office/drawing/2014/main" id="{D463386A-37AB-4A12-A5D7-D3D56100C52F}"/>
              </a:ext>
            </a:extLst>
          </p:cNvPr>
          <p:cNvSpPr txBox="1"/>
          <p:nvPr/>
        </p:nvSpPr>
        <p:spPr>
          <a:xfrm>
            <a:off x="3327400" y="4851400"/>
            <a:ext cx="2489200" cy="1066800"/>
          </a:xfrm>
          <a:prstGeom prst="rect">
            <a:avLst/>
          </a:prstGeom>
          <a:noFill/>
        </p:spPr>
        <p:txBody>
          <a:bodyPr vert="horz" wrap="square" lIns="45720" tIns="45720" rIns="45720" bIns="45720" rtlCol="0" anchor="ctr">
            <a:noAutofit/>
          </a:bodyPr>
          <a:lstStyle/>
          <a:p>
            <a:r>
              <a:rPr lang="es-MX" sz="1400">
                <a:solidFill>
                  <a:srgbClr val="4A5560"/>
                </a:solidFill>
                <a:latin typeface="Calibri" panose="020F0502020204030204" pitchFamily="34" charset="0"/>
              </a:rPr>
              <a:t>Euclidiana, como en el artículo</a:t>
            </a:r>
          </a:p>
        </p:txBody>
      </p:sp>
      <p:cxnSp>
        <p:nvCxnSpPr>
          <p:cNvPr id="45" name="Row arrow 3">
            <a:extLst>
              <a:ext uri="{FF2B5EF4-FFF2-40B4-BE49-F238E27FC236}">
                <a16:creationId xmlns:a16="http://schemas.microsoft.com/office/drawing/2014/main" id="{64AE18F4-66FC-4342-BE12-C6A5CCD3ACAC}"/>
              </a:ext>
            </a:extLst>
          </p:cNvPr>
          <p:cNvCxnSpPr/>
          <p:nvPr/>
        </p:nvCxnSpPr>
        <p:spPr>
          <a:xfrm>
            <a:off x="5867400" y="5384800"/>
            <a:ext cx="304800" cy="0"/>
          </a:xfrm>
          <a:prstGeom prst="straightConnector1">
            <a:avLst/>
          </a:prstGeom>
          <a:ln w="2540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46" name="Row after panel 3">
            <a:extLst>
              <a:ext uri="{FF2B5EF4-FFF2-40B4-BE49-F238E27FC236}">
                <a16:creationId xmlns:a16="http://schemas.microsoft.com/office/drawing/2014/main" id="{53C25DFD-D227-4AA3-9412-C2B74DA736FD}"/>
              </a:ext>
            </a:extLst>
          </p:cNvPr>
          <p:cNvSpPr/>
          <p:nvPr/>
        </p:nvSpPr>
        <p:spPr>
          <a:xfrm>
            <a:off x="6273800" y="4851400"/>
            <a:ext cx="2616200" cy="1066800"/>
          </a:xfrm>
          <a:prstGeom prst="roundRect">
            <a:avLst>
              <a:gd name="adj" fmla="val 6000"/>
            </a:avLst>
          </a:prstGeom>
          <a:solidFill>
            <a:srgbClr val="0B2E4F"/>
          </a:solidFill>
          <a:ln w="9525" cap="flat" cmpd="sng" algn="ctr">
            <a:noFill/>
            <a:prstDash val="solid"/>
          </a:ln>
          <a:effectLst/>
          <a:extLst>
            <a:ext uri="{91240B29-F687-4F45-9708-019B960494DF}">
              <a14:hiddenLine xmlns:a14="http://schemas.microsoft.com/office/drawing/2010/main" w="9525" cap="flat" cmpd="sng" algn="ctr">
                <a:solidFill>
                  <a:srgbClr val="D6E2EA"/>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w after 3">
            <a:extLst>
              <a:ext uri="{FF2B5EF4-FFF2-40B4-BE49-F238E27FC236}">
                <a16:creationId xmlns:a16="http://schemas.microsoft.com/office/drawing/2014/main" id="{2CF18FB8-8A24-4B47-8D46-607EA34E9220}"/>
              </a:ext>
            </a:extLst>
          </p:cNvPr>
          <p:cNvSpPr txBox="1"/>
          <p:nvPr/>
        </p:nvSpPr>
        <p:spPr>
          <a:xfrm>
            <a:off x="6350000" y="4902200"/>
            <a:ext cx="2489200" cy="965200"/>
          </a:xfrm>
          <a:prstGeom prst="rect">
            <a:avLst/>
          </a:prstGeom>
          <a:noFill/>
        </p:spPr>
        <p:txBody>
          <a:bodyPr vert="horz" wrap="square" lIns="45720" tIns="45720" rIns="45720" bIns="45720" rtlCol="0" anchor="ctr">
            <a:noAutofit/>
          </a:bodyPr>
          <a:lstStyle/>
          <a:p>
            <a:r>
              <a:rPr lang="es-MX" sz="1400" b="1">
                <a:solidFill>
                  <a:srgbClr val="FFFFFF"/>
                </a:solidFill>
                <a:latin typeface="Calibri" panose="020F0502020204030204" pitchFamily="34" charset="0"/>
              </a:rPr>
              <a:t>Manhattan, k = 1, sin escalar</a:t>
            </a:r>
          </a:p>
        </p:txBody>
      </p:sp>
      <p:sp>
        <p:nvSpPr>
          <p:cNvPr id="48" name="Row why 3">
            <a:extLst>
              <a:ext uri="{FF2B5EF4-FFF2-40B4-BE49-F238E27FC236}">
                <a16:creationId xmlns:a16="http://schemas.microsoft.com/office/drawing/2014/main" id="{24190C30-85A5-4FB4-86BD-56A5022EB3D4}"/>
              </a:ext>
            </a:extLst>
          </p:cNvPr>
          <p:cNvSpPr txBox="1"/>
          <p:nvPr/>
        </p:nvSpPr>
        <p:spPr>
          <a:xfrm>
            <a:off x="9042400" y="4851400"/>
            <a:ext cx="2489200" cy="1066800"/>
          </a:xfrm>
          <a:prstGeom prst="rect">
            <a:avLst/>
          </a:prstGeom>
          <a:noFill/>
        </p:spPr>
        <p:txBody>
          <a:bodyPr vert="horz" wrap="square" lIns="45720" tIns="45720" rIns="45720" bIns="45720" rtlCol="0" anchor="ctr">
            <a:noAutofit/>
          </a:bodyPr>
          <a:lstStyle/>
          <a:p>
            <a:r>
              <a:rPr lang="es-MX" sz="1300">
                <a:solidFill>
                  <a:srgbClr val="4A5560"/>
                </a:solidFill>
                <a:latin typeface="Calibri" panose="020F0502020204030204" pitchFamily="34" charset="0"/>
              </a:rPr>
              <a:t>No la impusimos: GridSearchCV probó ambas. Manhattan 0.960 vs. euclidiana 0.955.</a:t>
            </a:r>
          </a:p>
        </p:txBody>
      </p:sp>
    </p:spTree>
    <p:extLst>
      <p:ext uri="{BB962C8B-B14F-4D97-AF65-F5344CB8AC3E}">
        <p14:creationId xmlns:p14="http://schemas.microsoft.com/office/powerpoint/2010/main" val="2596443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El dato real que cambió nuestra simulación</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En la Fase 1 usábamos 6 dB de ruido en cada lectura; los datos reales dicen otra cosa</a:t>
            </a:r>
          </a:p>
        </p:txBody>
      </p:sp>
      <p:sp>
        <p:nvSpPr>
          <p:cNvPr id="4" name="Rounded Rectangle 3"/>
          <p:cNvSpPr/>
          <p:nvPr/>
        </p:nvSpPr>
        <p:spPr>
          <a:xfrm>
            <a:off x="548640" y="1645920"/>
            <a:ext cx="3566160" cy="210312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83080"/>
            <a:ext cx="3108960" cy="1156716"/>
          </a:xfrm>
          <a:prstGeom prst="rect">
            <a:avLst/>
          </a:prstGeom>
          <a:noFill/>
        </p:spPr>
        <p:txBody>
          <a:bodyPr wrap="square" lIns="45720" rIns="45720" anchor="b">
            <a:spAutoFit/>
          </a:bodyPr>
          <a:lstStyle/>
          <a:p>
            <a:pPr algn="l">
              <a:spcAft>
                <a:spcPts val="400"/>
              </a:spcAft>
            </a:pPr>
            <a:r>
              <a:rPr sz="4000" b="1" i="0">
                <a:solidFill>
                  <a:srgbClr val="29D3C5"/>
                </a:solidFill>
                <a:latin typeface="Cambria"/>
              </a:rPr>
              <a:t>≈ 5 dB</a:t>
            </a:r>
          </a:p>
        </p:txBody>
      </p:sp>
      <p:sp>
        <p:nvSpPr>
          <p:cNvPr id="6" name="TextBox 5"/>
          <p:cNvSpPr txBox="1"/>
          <p:nvPr/>
        </p:nvSpPr>
        <p:spPr>
          <a:xfrm>
            <a:off x="777240" y="2865729"/>
            <a:ext cx="3108960" cy="841247"/>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Sombra ESPACIAL: depende del sitio y no cambia entre lecturas (3.8–6.6 dB por AP)</a:t>
            </a:r>
          </a:p>
        </p:txBody>
      </p:sp>
      <p:sp>
        <p:nvSpPr>
          <p:cNvPr id="7" name="Rounded Rectangle 6"/>
          <p:cNvSpPr/>
          <p:nvPr/>
        </p:nvSpPr>
        <p:spPr>
          <a:xfrm>
            <a:off x="4343400" y="1645920"/>
            <a:ext cx="3566160" cy="210312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783080"/>
            <a:ext cx="3108960" cy="1156716"/>
          </a:xfrm>
          <a:prstGeom prst="rect">
            <a:avLst/>
          </a:prstGeom>
          <a:noFill/>
        </p:spPr>
        <p:txBody>
          <a:bodyPr wrap="square" lIns="45720" rIns="45720" anchor="b">
            <a:spAutoFit/>
          </a:bodyPr>
          <a:lstStyle/>
          <a:p>
            <a:pPr algn="l">
              <a:spcAft>
                <a:spcPts val="400"/>
              </a:spcAft>
            </a:pPr>
            <a:r>
              <a:rPr sz="4000" b="1" i="0">
                <a:solidFill>
                  <a:srgbClr val="29D3C5"/>
                </a:solidFill>
                <a:latin typeface="Cambria"/>
              </a:rPr>
              <a:t>≈ 1 dB</a:t>
            </a:r>
          </a:p>
        </p:txBody>
      </p:sp>
      <p:sp>
        <p:nvSpPr>
          <p:cNvPr id="9" name="TextBox 8"/>
          <p:cNvSpPr txBox="1"/>
          <p:nvPr/>
        </p:nvSpPr>
        <p:spPr>
          <a:xfrm>
            <a:off x="4572000" y="2865729"/>
            <a:ext cx="3108960" cy="841247"/>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Fluctuación TEMPORAL entre lecturas repetidas en el mismo punto (DE real: 1.01 dB)</a:t>
            </a:r>
          </a:p>
        </p:txBody>
      </p:sp>
      <p:sp>
        <p:nvSpPr>
          <p:cNvPr id="10" name="Rounded Rectangle 9"/>
          <p:cNvSpPr/>
          <p:nvPr/>
        </p:nvSpPr>
        <p:spPr>
          <a:xfrm>
            <a:off x="8183879" y="1645920"/>
            <a:ext cx="3474720" cy="21031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0" y="1783080"/>
            <a:ext cx="3108960" cy="1920240"/>
          </a:xfrm>
          <a:prstGeom prst="rect">
            <a:avLst/>
          </a:prstGeom>
          <a:noFill/>
        </p:spPr>
        <p:txBody>
          <a:bodyPr wrap="square" lIns="45720" rIns="45720" anchor="t">
            <a:spAutoFit/>
          </a:bodyPr>
          <a:lstStyle/>
          <a:p>
            <a:pPr algn="l">
              <a:spcAft>
                <a:spcPts val="400"/>
              </a:spcAft>
            </a:pPr>
            <a:r>
              <a:rPr sz="1400" b="1" i="0">
                <a:solidFill>
                  <a:srgbClr val="4A5560"/>
                </a:solidFill>
                <a:latin typeface="Calibri"/>
              </a:rPr>
              <a:t>Fuente: </a:t>
            </a:r>
          </a:p>
          <a:p>
            <a:pPr algn="l">
              <a:spcAft>
                <a:spcPts val="400"/>
              </a:spcAft>
            </a:pPr>
            <a:r>
              <a:rPr sz="1400" b="0" i="0">
                <a:solidFill>
                  <a:srgbClr val="4A5560"/>
                </a:solidFill>
                <a:latin typeface="Calibri"/>
              </a:rPr>
              <a:t>Wi-FiPowerInOfficeDataset, mediciones publicadas por los autores del artículo (Manaus, Brasil): 16 puntos × 220 lecturas × 8 APs.</a:t>
            </a:r>
          </a:p>
        </p:txBody>
      </p:sp>
      <p:sp>
        <p:nvSpPr>
          <p:cNvPr id="12" name="Rounded Rectangle 11"/>
          <p:cNvSpPr/>
          <p:nvPr/>
        </p:nvSpPr>
        <p:spPr>
          <a:xfrm>
            <a:off x="548640" y="4069080"/>
            <a:ext cx="11109960" cy="205740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206240"/>
            <a:ext cx="10515600" cy="411480"/>
          </a:xfrm>
          <a:prstGeom prst="rect">
            <a:avLst/>
          </a:prstGeom>
          <a:noFill/>
        </p:spPr>
        <p:txBody>
          <a:bodyPr wrap="square" lIns="45720" rIns="45720" anchor="t">
            <a:spAutoFit/>
          </a:bodyPr>
          <a:lstStyle/>
          <a:p>
            <a:pPr algn="l">
              <a:spcAft>
                <a:spcPts val="400"/>
              </a:spcAft>
            </a:pPr>
            <a:r>
              <a:rPr sz="1900" b="1" i="0">
                <a:solidFill>
                  <a:srgbClr val="29D3C5"/>
                </a:solidFill>
                <a:latin typeface="Cambria"/>
              </a:rPr>
              <a:t>Por eso separamos tres escalas de variación</a:t>
            </a:r>
          </a:p>
        </p:txBody>
      </p:sp>
      <p:sp>
        <p:nvSpPr>
          <p:cNvPr id="14" name="TextBox 13"/>
          <p:cNvSpPr txBox="1"/>
          <p:nvPr/>
        </p:nvSpPr>
        <p:spPr>
          <a:xfrm>
            <a:off x="868680" y="4754880"/>
            <a:ext cx="3383280" cy="1188720"/>
          </a:xfrm>
          <a:prstGeom prst="rect">
            <a:avLst/>
          </a:prstGeom>
          <a:noFill/>
        </p:spPr>
        <p:txBody>
          <a:bodyPr wrap="square" lIns="45720" rIns="45720" anchor="t">
            <a:spAutoFit/>
          </a:bodyPr>
          <a:lstStyle/>
          <a:p>
            <a:pPr algn="l">
              <a:spcAft>
                <a:spcPts val="400"/>
              </a:spcAft>
            </a:pPr>
            <a:r>
              <a:rPr sz="1700" b="1" i="0">
                <a:solidFill>
                  <a:srgbClr val="FFFFFF"/>
                </a:solidFill>
                <a:latin typeface="Calibri"/>
              </a:rPr>
              <a:t>Espacial</a:t>
            </a:r>
          </a:p>
          <a:p>
            <a:pPr algn="l">
              <a:spcAft>
                <a:spcPts val="400"/>
              </a:spcAft>
            </a:pPr>
            <a:r>
              <a:rPr sz="1400" b="0" i="0">
                <a:solidFill>
                  <a:srgbClr val="C9D8E4"/>
                </a:solidFill>
                <a:latin typeface="Calibri"/>
              </a:rPr>
              <a:t>campo aleatorio correlacionado (σ = 5 dB, 3 m)</a:t>
            </a:r>
          </a:p>
        </p:txBody>
      </p:sp>
      <p:sp>
        <p:nvSpPr>
          <p:cNvPr id="15" name="TextBox 14"/>
          <p:cNvSpPr txBox="1"/>
          <p:nvPr/>
        </p:nvSpPr>
        <p:spPr>
          <a:xfrm>
            <a:off x="4480560" y="4754880"/>
            <a:ext cx="3383280" cy="1188720"/>
          </a:xfrm>
          <a:prstGeom prst="rect">
            <a:avLst/>
          </a:prstGeom>
          <a:noFill/>
        </p:spPr>
        <p:txBody>
          <a:bodyPr wrap="square" lIns="45720" rIns="45720" anchor="t">
            <a:spAutoFit/>
          </a:bodyPr>
          <a:lstStyle/>
          <a:p>
            <a:pPr algn="l">
              <a:spcAft>
                <a:spcPts val="400"/>
              </a:spcAft>
            </a:pPr>
            <a:r>
              <a:rPr sz="1700" b="1" i="0">
                <a:solidFill>
                  <a:srgbClr val="FFFFFF"/>
                </a:solidFill>
                <a:latin typeface="Calibri"/>
              </a:rPr>
              <a:t>Diaria</a:t>
            </a:r>
          </a:p>
          <a:p>
            <a:pPr algn="l">
              <a:spcAft>
                <a:spcPts val="400"/>
              </a:spcAft>
            </a:pPr>
            <a:r>
              <a:rPr sz="1400" b="0" i="0">
                <a:solidFill>
                  <a:srgbClr val="C9D8E4"/>
                </a:solidFill>
                <a:latin typeface="Calibri"/>
              </a:rPr>
              <a:t>deriva por AP y día (σ = 1 dB)</a:t>
            </a:r>
          </a:p>
        </p:txBody>
      </p:sp>
      <p:sp>
        <p:nvSpPr>
          <p:cNvPr id="16" name="TextBox 15"/>
          <p:cNvSpPr txBox="1"/>
          <p:nvPr/>
        </p:nvSpPr>
        <p:spPr>
          <a:xfrm>
            <a:off x="8092440" y="4754880"/>
            <a:ext cx="3383280" cy="1188720"/>
          </a:xfrm>
          <a:prstGeom prst="rect">
            <a:avLst/>
          </a:prstGeom>
          <a:noFill/>
        </p:spPr>
        <p:txBody>
          <a:bodyPr wrap="square" lIns="45720" rIns="45720" anchor="t">
            <a:spAutoFit/>
          </a:bodyPr>
          <a:lstStyle/>
          <a:p>
            <a:pPr algn="l">
              <a:spcAft>
                <a:spcPts val="400"/>
              </a:spcAft>
            </a:pPr>
            <a:r>
              <a:rPr sz="1700" b="1" i="0">
                <a:solidFill>
                  <a:srgbClr val="FFFFFF"/>
                </a:solidFill>
                <a:latin typeface="Calibri"/>
              </a:rPr>
              <a:t>Temporal</a:t>
            </a:r>
          </a:p>
          <a:p>
            <a:pPr algn="l">
              <a:spcAft>
                <a:spcPts val="400"/>
              </a:spcAft>
            </a:pPr>
            <a:r>
              <a:rPr sz="1400" b="0" i="0">
                <a:solidFill>
                  <a:srgbClr val="C9D8E4"/>
                </a:solidFill>
                <a:latin typeface="Calibri"/>
              </a:rPr>
              <a:t>fluctuación ~1 dB + caídas al cruzar paredes</a:t>
            </a:r>
          </a:p>
        </p:txBody>
      </p:sp>
      <p:sp>
        <p:nvSpPr>
          <p:cNvPr id="17" name="TextBox 16"/>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18" name="TextBox 17"/>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4</a:t>
            </a:r>
            <a:endParaRPr sz="1000" b="0" i="0">
              <a:solidFill>
                <a:srgbClr val="898781"/>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La simulación: física de propagación, no números al azar</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Piso de 30 × 20 m, 18 zonas (aulas, corredor, oficinas) y 8 APs</a:t>
            </a:r>
          </a:p>
        </p:txBody>
      </p:sp>
      <p:sp>
        <p:nvSpPr>
          <p:cNvPr id="4" name="Rounded Rectangle 3"/>
          <p:cNvSpPr/>
          <p:nvPr/>
        </p:nvSpPr>
        <p:spPr>
          <a:xfrm>
            <a:off x="548640" y="1600200"/>
            <a:ext cx="5212080" cy="114300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19072"/>
            <a:ext cx="4846320" cy="914400"/>
          </a:xfrm>
          <a:prstGeom prst="rect">
            <a:avLst/>
          </a:prstGeom>
          <a:noFill/>
        </p:spPr>
        <p:txBody>
          <a:bodyPr wrap="square" lIns="45720" rIns="45720" anchor="ctr">
            <a:spAutoFit/>
          </a:bodyPr>
          <a:lstStyle/>
          <a:p>
            <a:pPr algn="l">
              <a:spcAft>
                <a:spcPts val="400"/>
              </a:spcAft>
            </a:pPr>
            <a:r>
              <a:rPr sz="1550" b="1" i="0">
                <a:solidFill>
                  <a:srgbClr val="29D3C5"/>
                </a:solidFill>
                <a:latin typeface="Cambria"/>
              </a:rPr>
              <a:t>RSSI = P0 − 10·n·log(d) − Σ paredes + S(p) + D(día) + e − F</a:t>
            </a:r>
          </a:p>
        </p:txBody>
      </p:sp>
      <p:sp>
        <p:nvSpPr>
          <p:cNvPr id="6" name="Oval 5"/>
          <p:cNvSpPr/>
          <p:nvPr/>
        </p:nvSpPr>
        <p:spPr>
          <a:xfrm>
            <a:off x="548640" y="3017520"/>
            <a:ext cx="457200" cy="457200"/>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29D3C5"/>
                </a:solidFill>
                <a:latin typeface="Cambria"/>
              </a:rPr>
              <a:t>1</a:t>
            </a:r>
          </a:p>
        </p:txBody>
      </p:sp>
      <p:sp>
        <p:nvSpPr>
          <p:cNvPr id="7" name="TextBox 6"/>
          <p:cNvSpPr txBox="1"/>
          <p:nvPr/>
        </p:nvSpPr>
        <p:spPr>
          <a:xfrm>
            <a:off x="1188720" y="2971800"/>
            <a:ext cx="4572000" cy="777240"/>
          </a:xfrm>
          <a:prstGeom prst="rect">
            <a:avLst/>
          </a:prstGeom>
          <a:noFill/>
        </p:spPr>
        <p:txBody>
          <a:bodyPr wrap="square" lIns="45720" rIns="45720" anchor="t">
            <a:spAutoFit/>
          </a:bodyPr>
          <a:lstStyle/>
          <a:p>
            <a:pPr algn="l">
              <a:spcAft>
                <a:spcPts val="100"/>
              </a:spcAft>
            </a:pPr>
            <a:r>
              <a:rPr sz="1500" b="1" i="0">
                <a:solidFill>
                  <a:srgbClr val="0B2E4F"/>
                </a:solidFill>
                <a:latin typeface="Calibri"/>
              </a:rPr>
              <a:t>Log-normal del artículo</a:t>
            </a:r>
          </a:p>
          <a:p>
            <a:pPr algn="l">
              <a:spcAft>
                <a:spcPts val="100"/>
              </a:spcAft>
            </a:pPr>
            <a:r>
              <a:rPr sz="1300" b="0" i="0">
                <a:solidFill>
                  <a:srgbClr val="4A5560"/>
                </a:solidFill>
                <a:latin typeface="Calibri"/>
              </a:rPr>
              <a:t>su ecuación 7, con n = 2.2</a:t>
            </a:r>
          </a:p>
        </p:txBody>
      </p:sp>
      <p:sp>
        <p:nvSpPr>
          <p:cNvPr id="8" name="Oval 7"/>
          <p:cNvSpPr/>
          <p:nvPr/>
        </p:nvSpPr>
        <p:spPr>
          <a:xfrm>
            <a:off x="548640" y="3840480"/>
            <a:ext cx="457200" cy="457200"/>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29D3C5"/>
                </a:solidFill>
                <a:latin typeface="Cambria"/>
              </a:rPr>
              <a:t>2</a:t>
            </a:r>
          </a:p>
        </p:txBody>
      </p:sp>
      <p:sp>
        <p:nvSpPr>
          <p:cNvPr id="9" name="TextBox 8"/>
          <p:cNvSpPr txBox="1"/>
          <p:nvPr/>
        </p:nvSpPr>
        <p:spPr>
          <a:xfrm>
            <a:off x="1188720" y="3794760"/>
            <a:ext cx="4572000" cy="777240"/>
          </a:xfrm>
          <a:prstGeom prst="rect">
            <a:avLst/>
          </a:prstGeom>
          <a:noFill/>
        </p:spPr>
        <p:txBody>
          <a:bodyPr wrap="square" lIns="45720" rIns="45720" anchor="t">
            <a:spAutoFit/>
          </a:bodyPr>
          <a:lstStyle/>
          <a:p>
            <a:pPr algn="l">
              <a:spcAft>
                <a:spcPts val="100"/>
              </a:spcAft>
            </a:pPr>
            <a:r>
              <a:rPr sz="1500" b="1" i="0">
                <a:solidFill>
                  <a:srgbClr val="0B2E4F"/>
                </a:solidFill>
                <a:latin typeface="Calibri"/>
              </a:rPr>
              <a:t>Paredes (COST 231)</a:t>
            </a:r>
          </a:p>
          <a:p>
            <a:pPr algn="l">
              <a:spcAft>
                <a:spcPts val="100"/>
              </a:spcAft>
            </a:pPr>
            <a:r>
              <a:rPr sz="1300" b="0" i="0">
                <a:solidFill>
                  <a:srgbClr val="4A5560"/>
                </a:solidFill>
                <a:latin typeface="Calibri"/>
              </a:rPr>
              <a:t>−6 dB por muro del corredor, −4 dB por tabique</a:t>
            </a:r>
          </a:p>
        </p:txBody>
      </p:sp>
      <p:sp>
        <p:nvSpPr>
          <p:cNvPr id="10" name="Oval 9"/>
          <p:cNvSpPr/>
          <p:nvPr/>
        </p:nvSpPr>
        <p:spPr>
          <a:xfrm>
            <a:off x="548640" y="4663440"/>
            <a:ext cx="457200" cy="457200"/>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29D3C5"/>
                </a:solidFill>
                <a:latin typeface="Cambria"/>
              </a:rPr>
              <a:t>3</a:t>
            </a:r>
          </a:p>
        </p:txBody>
      </p:sp>
      <p:sp>
        <p:nvSpPr>
          <p:cNvPr id="11" name="TextBox 10"/>
          <p:cNvSpPr txBox="1"/>
          <p:nvPr/>
        </p:nvSpPr>
        <p:spPr>
          <a:xfrm>
            <a:off x="1188720" y="4617720"/>
            <a:ext cx="4572000" cy="777240"/>
          </a:xfrm>
          <a:prstGeom prst="rect">
            <a:avLst/>
          </a:prstGeom>
          <a:noFill/>
        </p:spPr>
        <p:txBody>
          <a:bodyPr wrap="square" lIns="45720" rIns="45720" anchor="t">
            <a:spAutoFit/>
          </a:bodyPr>
          <a:lstStyle/>
          <a:p>
            <a:pPr algn="l">
              <a:spcAft>
                <a:spcPts val="100"/>
              </a:spcAft>
            </a:pPr>
            <a:r>
              <a:rPr sz="1500" b="1" i="0">
                <a:solidFill>
                  <a:srgbClr val="0B2E4F"/>
                </a:solidFill>
                <a:latin typeface="Calibri"/>
              </a:rPr>
              <a:t>Obstáculos → cola inferior</a:t>
            </a:r>
          </a:p>
          <a:p>
            <a:pPr algn="l">
              <a:spcAft>
                <a:spcPts val="100"/>
              </a:spcAft>
            </a:pPr>
            <a:r>
              <a:rPr sz="1300" b="0" i="0">
                <a:solidFill>
                  <a:srgbClr val="4A5560"/>
                </a:solidFill>
                <a:latin typeface="Calibri"/>
              </a:rPr>
              <a:t>más fluctuación y caídas al cruzar paredes: lo que capturan Q1 y Q3</a:t>
            </a:r>
          </a:p>
        </p:txBody>
      </p:sp>
      <p:sp>
        <p:nvSpPr>
          <p:cNvPr id="12" name="Oval 11"/>
          <p:cNvSpPr/>
          <p:nvPr/>
        </p:nvSpPr>
        <p:spPr>
          <a:xfrm>
            <a:off x="548640" y="5486400"/>
            <a:ext cx="457200" cy="457200"/>
          </a:xfrm>
          <a:prstGeom prst="ellipse">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29D3C5"/>
                </a:solidFill>
                <a:latin typeface="Cambria"/>
              </a:rPr>
              <a:t>4</a:t>
            </a:r>
          </a:p>
        </p:txBody>
      </p:sp>
      <p:sp>
        <p:nvSpPr>
          <p:cNvPr id="13" name="TextBox 12"/>
          <p:cNvSpPr txBox="1"/>
          <p:nvPr/>
        </p:nvSpPr>
        <p:spPr>
          <a:xfrm>
            <a:off x="1188720" y="5440680"/>
            <a:ext cx="4572000" cy="777240"/>
          </a:xfrm>
          <a:prstGeom prst="rect">
            <a:avLst/>
          </a:prstGeom>
          <a:noFill/>
        </p:spPr>
        <p:txBody>
          <a:bodyPr wrap="square" lIns="45720" rIns="45720" anchor="t">
            <a:spAutoFit/>
          </a:bodyPr>
          <a:lstStyle/>
          <a:p>
            <a:pPr algn="l">
              <a:spcAft>
                <a:spcPts val="100"/>
              </a:spcAft>
            </a:pPr>
            <a:r>
              <a:rPr sz="1500" b="1" i="0">
                <a:solidFill>
                  <a:srgbClr val="0B2E4F"/>
                </a:solidFill>
                <a:latin typeface="Calibri"/>
              </a:rPr>
              <a:t>Realismo operativo</a:t>
            </a:r>
          </a:p>
          <a:p>
            <a:pPr algn="l">
              <a:spcAft>
                <a:spcPts val="100"/>
              </a:spcAft>
            </a:pPr>
            <a:r>
              <a:rPr sz="1300" b="0" i="0">
                <a:solidFill>
                  <a:srgbClr val="4A5560"/>
                </a:solidFill>
                <a:latin typeface="Calibri"/>
              </a:rPr>
              <a:t>posición aleatoria en la zona, dBm enteros, detección intermitente, fallas de AP 3 %</a:t>
            </a:r>
          </a:p>
        </p:txBody>
      </p:sp>
      <p:pic>
        <p:nvPicPr>
          <p:cNvPr id="14" name="Picture 13" descr="fig1_plano_a.png"/>
          <p:cNvPicPr>
            <a:picLocks noChangeAspect="1"/>
          </p:cNvPicPr>
          <p:nvPr/>
        </p:nvPicPr>
        <p:blipFill>
          <a:blip r:embed="rId3"/>
          <a:stretch>
            <a:fillRect/>
          </a:stretch>
        </p:blipFill>
        <p:spPr>
          <a:xfrm>
            <a:off x="6035040" y="1810996"/>
            <a:ext cx="5669280" cy="4150407"/>
          </a:xfrm>
          <a:prstGeom prst="rect">
            <a:avLst/>
          </a:prstGeom>
        </p:spPr>
      </p:pic>
      <p:sp>
        <p:nvSpPr>
          <p:cNvPr id="15" name="TextBox 14"/>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16" name="TextBox 15"/>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5</a:t>
            </a:r>
            <a:endParaRPr sz="1000" b="0" i="0">
              <a:solidFill>
                <a:srgbClr val="898781"/>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La simulación está anclada en mediciones reales</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Mediciones de los autores + piloto propio (40 escaneos con el script del equipo)</a:t>
            </a:r>
          </a:p>
        </p:txBody>
      </p:sp>
      <p:pic>
        <p:nvPicPr>
          <p:cNvPr id="4" name="Picture 3" descr="fig2_anclaje.png"/>
          <p:cNvPicPr>
            <a:picLocks noChangeAspect="1"/>
          </p:cNvPicPr>
          <p:nvPr/>
        </p:nvPicPr>
        <p:blipFill>
          <a:blip r:embed="rId3"/>
          <a:stretch>
            <a:fillRect/>
          </a:stretch>
        </p:blipFill>
        <p:spPr>
          <a:xfrm>
            <a:off x="550017" y="1463040"/>
            <a:ext cx="11107205" cy="3246120"/>
          </a:xfrm>
          <a:prstGeom prst="rect">
            <a:avLst/>
          </a:prstGeom>
        </p:spPr>
      </p:pic>
      <p:sp>
        <p:nvSpPr>
          <p:cNvPr id="5" name="Rounded Rectangle 4"/>
          <p:cNvSpPr/>
          <p:nvPr/>
        </p:nvSpPr>
        <p:spPr>
          <a:xfrm>
            <a:off x="548640" y="4846320"/>
            <a:ext cx="3611880" cy="14173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4983480"/>
            <a:ext cx="3154680" cy="779526"/>
          </a:xfrm>
          <a:prstGeom prst="rect">
            <a:avLst/>
          </a:prstGeom>
          <a:noFill/>
        </p:spPr>
        <p:txBody>
          <a:bodyPr wrap="square" lIns="45720" rIns="45720" anchor="b">
            <a:spAutoFit/>
          </a:bodyPr>
          <a:lstStyle/>
          <a:p>
            <a:pPr algn="l">
              <a:spcAft>
                <a:spcPts val="400"/>
              </a:spcAft>
            </a:pPr>
            <a:r>
              <a:rPr sz="3000" b="1" i="0">
                <a:solidFill>
                  <a:srgbClr val="0B2E4F"/>
                </a:solidFill>
                <a:latin typeface="Cambria"/>
              </a:rPr>
              <a:t>5 dB</a:t>
            </a:r>
          </a:p>
        </p:txBody>
      </p:sp>
      <p:sp>
        <p:nvSpPr>
          <p:cNvPr id="7" name="TextBox 6"/>
          <p:cNvSpPr txBox="1"/>
          <p:nvPr/>
        </p:nvSpPr>
        <p:spPr>
          <a:xfrm>
            <a:off x="777240" y="5668365"/>
            <a:ext cx="3154680" cy="566928"/>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sombra simulada · real 3.8–6.6 dB</a:t>
            </a:r>
          </a:p>
        </p:txBody>
      </p:sp>
      <p:sp>
        <p:nvSpPr>
          <p:cNvPr id="8" name="Rounded Rectangle 7"/>
          <p:cNvSpPr/>
          <p:nvPr/>
        </p:nvSpPr>
        <p:spPr>
          <a:xfrm>
            <a:off x="4297679" y="4846320"/>
            <a:ext cx="3611880" cy="141732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79" y="4983480"/>
            <a:ext cx="3154680" cy="779526"/>
          </a:xfrm>
          <a:prstGeom prst="rect">
            <a:avLst/>
          </a:prstGeom>
          <a:noFill/>
        </p:spPr>
        <p:txBody>
          <a:bodyPr wrap="square" lIns="45720" rIns="45720" anchor="b">
            <a:spAutoFit/>
          </a:bodyPr>
          <a:lstStyle/>
          <a:p>
            <a:pPr algn="l">
              <a:spcAft>
                <a:spcPts val="400"/>
              </a:spcAft>
            </a:pPr>
            <a:r>
              <a:rPr sz="3000" b="1" i="0">
                <a:solidFill>
                  <a:srgbClr val="29D3C5"/>
                </a:solidFill>
                <a:latin typeface="Cambria"/>
              </a:rPr>
              <a:t>0.93 dB</a:t>
            </a:r>
          </a:p>
        </p:txBody>
      </p:sp>
      <p:sp>
        <p:nvSpPr>
          <p:cNvPr id="10" name="TextBox 9"/>
          <p:cNvSpPr txBox="1"/>
          <p:nvPr/>
        </p:nvSpPr>
        <p:spPr>
          <a:xfrm>
            <a:off x="4526279" y="5668365"/>
            <a:ext cx="3154680" cy="566928"/>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fluctuación con línea de vista · real 1.01 dB</a:t>
            </a:r>
          </a:p>
        </p:txBody>
      </p:sp>
      <p:sp>
        <p:nvSpPr>
          <p:cNvPr id="11" name="Rounded Rectangle 10"/>
          <p:cNvSpPr/>
          <p:nvPr/>
        </p:nvSpPr>
        <p:spPr>
          <a:xfrm>
            <a:off x="8046719" y="4846320"/>
            <a:ext cx="3611880" cy="14173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75319" y="4983480"/>
            <a:ext cx="3154680" cy="779526"/>
          </a:xfrm>
          <a:prstGeom prst="rect">
            <a:avLst/>
          </a:prstGeom>
          <a:noFill/>
        </p:spPr>
        <p:txBody>
          <a:bodyPr wrap="square" lIns="45720" rIns="45720" anchor="b">
            <a:spAutoFit/>
          </a:bodyPr>
          <a:lstStyle/>
          <a:p>
            <a:pPr algn="l">
              <a:spcAft>
                <a:spcPts val="400"/>
              </a:spcAft>
            </a:pPr>
            <a:r>
              <a:rPr sz="3000" b="1" i="0">
                <a:solidFill>
                  <a:srgbClr val="0B2E4F"/>
                </a:solidFill>
                <a:latin typeface="Cambria"/>
              </a:rPr>
              <a:t>61 %</a:t>
            </a:r>
          </a:p>
        </p:txBody>
      </p:sp>
      <p:sp>
        <p:nvSpPr>
          <p:cNvPr id="13" name="TextBox 12"/>
          <p:cNvSpPr txBox="1"/>
          <p:nvPr/>
        </p:nvSpPr>
        <p:spPr>
          <a:xfrm>
            <a:off x="8275319" y="5668365"/>
            <a:ext cx="3154680" cy="566928"/>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detección de APs débiles · piloto 67 %</a:t>
            </a:r>
          </a:p>
        </p:txBody>
      </p:sp>
      <p:sp>
        <p:nvSpPr>
          <p:cNvPr id="14" name="TextBox 13"/>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15" name="TextBox 14"/>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6</a:t>
            </a:r>
            <a:endParaRPr sz="1000" b="0" i="0">
              <a:solidFill>
                <a:srgbClr val="898781"/>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Dataset definitivo: 5 040 visitas balanceadas</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14 días × 18 zonas × 20 visitas; cada visita = 40 lecturas por AP resumidas en Q1, Q2, Q3</a:t>
            </a:r>
          </a:p>
        </p:txBody>
      </p:sp>
      <p:sp>
        <p:nvSpPr>
          <p:cNvPr id="4" name="Rounded Rectangle 3"/>
          <p:cNvSpPr/>
          <p:nvPr/>
        </p:nvSpPr>
        <p:spPr>
          <a:xfrm>
            <a:off x="548640" y="1600200"/>
            <a:ext cx="2651760" cy="164592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37360"/>
            <a:ext cx="2194560" cy="905256"/>
          </a:xfrm>
          <a:prstGeom prst="rect">
            <a:avLst/>
          </a:prstGeom>
          <a:noFill/>
        </p:spPr>
        <p:txBody>
          <a:bodyPr wrap="square" lIns="45720" rIns="45720" anchor="b">
            <a:spAutoFit/>
          </a:bodyPr>
          <a:lstStyle/>
          <a:p>
            <a:pPr algn="l">
              <a:spcAft>
                <a:spcPts val="400"/>
              </a:spcAft>
            </a:pPr>
            <a:r>
              <a:rPr sz="3400" b="1" i="0">
                <a:solidFill>
                  <a:srgbClr val="29D3C5"/>
                </a:solidFill>
                <a:latin typeface="Cambria"/>
              </a:rPr>
              <a:t>5 040</a:t>
            </a:r>
          </a:p>
        </p:txBody>
      </p:sp>
      <p:sp>
        <p:nvSpPr>
          <p:cNvPr id="6" name="TextBox 5"/>
          <p:cNvSpPr txBox="1"/>
          <p:nvPr/>
        </p:nvSpPr>
        <p:spPr>
          <a:xfrm>
            <a:off x="777240" y="2554833"/>
            <a:ext cx="2194560" cy="658368"/>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instancias · 280 por zona</a:t>
            </a:r>
          </a:p>
        </p:txBody>
      </p:sp>
      <p:sp>
        <p:nvSpPr>
          <p:cNvPr id="7" name="Rounded Rectangle 6"/>
          <p:cNvSpPr/>
          <p:nvPr/>
        </p:nvSpPr>
        <p:spPr>
          <a:xfrm>
            <a:off x="3337560" y="1600200"/>
            <a:ext cx="2651760" cy="16459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66160" y="1737360"/>
            <a:ext cx="2194560" cy="905256"/>
          </a:xfrm>
          <a:prstGeom prst="rect">
            <a:avLst/>
          </a:prstGeom>
          <a:noFill/>
        </p:spPr>
        <p:txBody>
          <a:bodyPr wrap="square" lIns="45720" rIns="45720" anchor="b">
            <a:spAutoFit/>
          </a:bodyPr>
          <a:lstStyle/>
          <a:p>
            <a:pPr algn="l">
              <a:spcAft>
                <a:spcPts val="400"/>
              </a:spcAft>
            </a:pPr>
            <a:r>
              <a:rPr sz="3400" b="1" i="0">
                <a:solidFill>
                  <a:srgbClr val="0B2E4F"/>
                </a:solidFill>
                <a:latin typeface="Cambria"/>
              </a:rPr>
              <a:t>24</a:t>
            </a:r>
          </a:p>
        </p:txBody>
      </p:sp>
      <p:sp>
        <p:nvSpPr>
          <p:cNvPr id="9" name="TextBox 8"/>
          <p:cNvSpPr txBox="1"/>
          <p:nvPr/>
        </p:nvSpPr>
        <p:spPr>
          <a:xfrm>
            <a:off x="3566160" y="2554833"/>
            <a:ext cx="2194560" cy="658368"/>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predictores (3 cuartiles × 8 APs)</a:t>
            </a:r>
          </a:p>
        </p:txBody>
      </p:sp>
      <p:sp>
        <p:nvSpPr>
          <p:cNvPr id="10" name="Rounded Rectangle 9"/>
          <p:cNvSpPr/>
          <p:nvPr/>
        </p:nvSpPr>
        <p:spPr>
          <a:xfrm>
            <a:off x="548640" y="3383280"/>
            <a:ext cx="2651760" cy="16459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520440"/>
            <a:ext cx="2194560" cy="905256"/>
          </a:xfrm>
          <a:prstGeom prst="rect">
            <a:avLst/>
          </a:prstGeom>
          <a:noFill/>
        </p:spPr>
        <p:txBody>
          <a:bodyPr wrap="square" lIns="45720" rIns="45720" anchor="b">
            <a:spAutoFit/>
          </a:bodyPr>
          <a:lstStyle/>
          <a:p>
            <a:pPr algn="l">
              <a:spcAft>
                <a:spcPts val="400"/>
              </a:spcAft>
            </a:pPr>
            <a:r>
              <a:rPr sz="3400" b="1" i="0">
                <a:solidFill>
                  <a:srgbClr val="0B2E4F"/>
                </a:solidFill>
                <a:latin typeface="Cambria"/>
              </a:rPr>
              <a:t>7.8 %</a:t>
            </a:r>
          </a:p>
        </p:txBody>
      </p:sp>
      <p:sp>
        <p:nvSpPr>
          <p:cNvPr id="12" name="TextBox 11"/>
          <p:cNvSpPr txBox="1"/>
          <p:nvPr/>
        </p:nvSpPr>
        <p:spPr>
          <a:xfrm>
            <a:off x="777240" y="4337913"/>
            <a:ext cx="2194560" cy="658368"/>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celdas faltantes (APs débiles o caídos)</a:t>
            </a:r>
          </a:p>
        </p:txBody>
      </p:sp>
      <p:sp>
        <p:nvSpPr>
          <p:cNvPr id="13" name="Rounded Rectangle 12"/>
          <p:cNvSpPr/>
          <p:nvPr/>
        </p:nvSpPr>
        <p:spPr>
          <a:xfrm>
            <a:off x="3337560" y="3383280"/>
            <a:ext cx="2651760" cy="16459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66160" y="3520440"/>
            <a:ext cx="2194560" cy="905256"/>
          </a:xfrm>
          <a:prstGeom prst="rect">
            <a:avLst/>
          </a:prstGeom>
          <a:noFill/>
        </p:spPr>
        <p:txBody>
          <a:bodyPr wrap="square" lIns="45720" rIns="45720" anchor="b">
            <a:spAutoFit/>
          </a:bodyPr>
          <a:lstStyle/>
          <a:p>
            <a:pPr algn="l">
              <a:spcAft>
                <a:spcPts val="400"/>
              </a:spcAft>
            </a:pPr>
            <a:r>
              <a:rPr sz="3400" b="1" i="0">
                <a:solidFill>
                  <a:srgbClr val="0B2E4F"/>
                </a:solidFill>
                <a:latin typeface="Cambria"/>
              </a:rPr>
              <a:t>0</a:t>
            </a:r>
          </a:p>
        </p:txBody>
      </p:sp>
      <p:sp>
        <p:nvSpPr>
          <p:cNvPr id="15" name="TextBox 14"/>
          <p:cNvSpPr txBox="1"/>
          <p:nvPr/>
        </p:nvSpPr>
        <p:spPr>
          <a:xfrm>
            <a:off x="3566160" y="4337913"/>
            <a:ext cx="2194560" cy="658368"/>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duplicados e incoherencias</a:t>
            </a:r>
          </a:p>
        </p:txBody>
      </p:sp>
      <p:sp>
        <p:nvSpPr>
          <p:cNvPr id="16" name="Rounded Rectangle 15"/>
          <p:cNvSpPr/>
          <p:nvPr/>
        </p:nvSpPr>
        <p:spPr>
          <a:xfrm>
            <a:off x="548640" y="5257800"/>
            <a:ext cx="5440680" cy="9601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5330952"/>
            <a:ext cx="5120640" cy="822960"/>
          </a:xfrm>
          <a:prstGeom prst="rect">
            <a:avLst/>
          </a:prstGeom>
          <a:noFill/>
        </p:spPr>
        <p:txBody>
          <a:bodyPr wrap="square" lIns="45720" rIns="45720" anchor="ctr">
            <a:spAutoFit/>
          </a:bodyPr>
          <a:lstStyle/>
          <a:p>
            <a:pPr algn="l">
              <a:spcAft>
                <a:spcPts val="400"/>
              </a:spcAft>
            </a:pPr>
            <a:r>
              <a:rPr sz="1350" b="1" i="0">
                <a:solidFill>
                  <a:srgbClr val="0B2E4F"/>
                </a:solidFill>
                <a:latin typeface="Calibri"/>
              </a:rPr>
              <a:t>Transformaciones: </a:t>
            </a:r>
            <a:r>
              <a:rPr sz="1350" b="0" i="0">
                <a:solidFill>
                  <a:srgbClr val="4A5560"/>
                </a:solidFill>
                <a:latin typeface="Calibri"/>
              </a:rPr>
              <a:t>solo imputar y, según el modelo, escalar. Sin balanceo (ya balanceado) ni codificación. x, y y el día no son predictores.</a:t>
            </a:r>
          </a:p>
        </p:txBody>
      </p:sp>
      <p:pic>
        <p:nvPicPr>
          <p:cNvPr id="18" name="Picture 17" descr="fig1_plano_b.png"/>
          <p:cNvPicPr>
            <a:picLocks noChangeAspect="1"/>
          </p:cNvPicPr>
          <p:nvPr/>
        </p:nvPicPr>
        <p:blipFill>
          <a:blip r:embed="rId3"/>
          <a:stretch>
            <a:fillRect/>
          </a:stretch>
        </p:blipFill>
        <p:spPr>
          <a:xfrm>
            <a:off x="6263640" y="2018780"/>
            <a:ext cx="5440680" cy="3734838"/>
          </a:xfrm>
          <a:prstGeom prst="rect">
            <a:avLst/>
          </a:prstGeom>
        </p:spPr>
      </p:pic>
      <p:sp>
        <p:nvSpPr>
          <p:cNvPr id="19" name="TextBox 18"/>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20" name="TextBox 19"/>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7</a:t>
            </a:r>
            <a:endParaRPr sz="1000" b="0" i="0">
              <a:solidFill>
                <a:srgbClr val="898781"/>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Verificamos los supuestos antes de entrenar</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Sobre entrenamiento; y anticipan el orden de los modelos</a:t>
            </a:r>
          </a:p>
        </p:txBody>
      </p:sp>
      <p:pic>
        <p:nvPicPr>
          <p:cNvPr id="4" name="Picture 3" descr="fig3_supuestos.png"/>
          <p:cNvPicPr>
            <a:picLocks noChangeAspect="1"/>
          </p:cNvPicPr>
          <p:nvPr/>
        </p:nvPicPr>
        <p:blipFill>
          <a:blip r:embed="rId3"/>
          <a:stretch>
            <a:fillRect/>
          </a:stretch>
        </p:blipFill>
        <p:spPr>
          <a:xfrm>
            <a:off x="548640" y="1445919"/>
            <a:ext cx="11109960" cy="3326080"/>
          </a:xfrm>
          <a:prstGeom prst="rect">
            <a:avLst/>
          </a:prstGeom>
        </p:spPr>
      </p:pic>
      <p:sp>
        <p:nvSpPr>
          <p:cNvPr id="5" name="Rounded Rectangle 4"/>
          <p:cNvSpPr/>
          <p:nvPr/>
        </p:nvSpPr>
        <p:spPr>
          <a:xfrm>
            <a:off x="548640" y="4937760"/>
            <a:ext cx="2679192" cy="13258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3232" y="5074920"/>
            <a:ext cx="438912" cy="438912"/>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FFFFFF"/>
                </a:solidFill>
                <a:latin typeface="Cambria"/>
              </a:rPr>
              <a:t>✓</a:t>
            </a:r>
          </a:p>
        </p:txBody>
      </p:sp>
      <p:sp>
        <p:nvSpPr>
          <p:cNvPr id="7" name="TextBox 6"/>
          <p:cNvSpPr txBox="1"/>
          <p:nvPr/>
        </p:nvSpPr>
        <p:spPr>
          <a:xfrm>
            <a:off x="1234440" y="5029200"/>
            <a:ext cx="1920240" cy="502920"/>
          </a:xfrm>
          <a:prstGeom prst="rect">
            <a:avLst/>
          </a:prstGeom>
          <a:noFill/>
        </p:spPr>
        <p:txBody>
          <a:bodyPr wrap="square" lIns="45720" rIns="45720" anchor="ctr">
            <a:spAutoFit/>
          </a:bodyPr>
          <a:lstStyle/>
          <a:p>
            <a:pPr algn="l">
              <a:spcAft>
                <a:spcPts val="400"/>
              </a:spcAft>
            </a:pPr>
            <a:r>
              <a:rPr sz="1400" b="1" i="0">
                <a:solidFill>
                  <a:srgbClr val="0B2E4F"/>
                </a:solidFill>
                <a:latin typeface="Calibri"/>
              </a:rPr>
              <a:t>Separabilidad</a:t>
            </a:r>
          </a:p>
        </p:txBody>
      </p:sp>
      <p:sp>
        <p:nvSpPr>
          <p:cNvPr id="8" name="TextBox 7"/>
          <p:cNvSpPr txBox="1"/>
          <p:nvPr/>
        </p:nvSpPr>
        <p:spPr>
          <a:xfrm>
            <a:off x="713232" y="5577840"/>
            <a:ext cx="2423160" cy="685800"/>
          </a:xfrm>
          <a:prstGeom prst="rect">
            <a:avLst/>
          </a:prstGeom>
          <a:noFill/>
        </p:spPr>
        <p:txBody>
          <a:bodyPr wrap="square" lIns="45720" rIns="45720" anchor="t">
            <a:spAutoFit/>
          </a:bodyPr>
          <a:lstStyle/>
          <a:p>
            <a:pPr algn="l">
              <a:spcAft>
                <a:spcPts val="400"/>
              </a:spcAft>
            </a:pPr>
            <a:r>
              <a:rPr sz="1200" b="0" i="0">
                <a:solidFill>
                  <a:srgbClr val="4A5560"/>
                </a:solidFill>
                <a:latin typeface="Calibri"/>
              </a:rPr>
              <a:t>ANOVA F ≥ 700; solo se tocan zonas contiguas</a:t>
            </a:r>
          </a:p>
        </p:txBody>
      </p:sp>
      <p:sp>
        <p:nvSpPr>
          <p:cNvPr id="9" name="Rounded Rectangle 8"/>
          <p:cNvSpPr/>
          <p:nvPr/>
        </p:nvSpPr>
        <p:spPr>
          <a:xfrm>
            <a:off x="3364992" y="4937760"/>
            <a:ext cx="2679192" cy="13258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529584" y="5074920"/>
            <a:ext cx="438912" cy="438912"/>
          </a:xfrm>
          <a:prstGeom prst="ellipse">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FFFFFF"/>
                </a:solidFill>
                <a:latin typeface="Cambria"/>
              </a:rPr>
              <a:t>≈</a:t>
            </a:r>
          </a:p>
        </p:txBody>
      </p:sp>
      <p:sp>
        <p:nvSpPr>
          <p:cNvPr id="11" name="TextBox 10"/>
          <p:cNvSpPr txBox="1"/>
          <p:nvPr/>
        </p:nvSpPr>
        <p:spPr>
          <a:xfrm>
            <a:off x="4050791" y="5029200"/>
            <a:ext cx="1920240" cy="502920"/>
          </a:xfrm>
          <a:prstGeom prst="rect">
            <a:avLst/>
          </a:prstGeom>
          <a:noFill/>
        </p:spPr>
        <p:txBody>
          <a:bodyPr wrap="square" lIns="45720" rIns="45720" anchor="ctr">
            <a:spAutoFit/>
          </a:bodyPr>
          <a:lstStyle/>
          <a:p>
            <a:pPr algn="l">
              <a:spcAft>
                <a:spcPts val="400"/>
              </a:spcAft>
            </a:pPr>
            <a:r>
              <a:rPr sz="1400" b="1" i="0">
                <a:solidFill>
                  <a:srgbClr val="0B2E4F"/>
                </a:solidFill>
                <a:latin typeface="Calibri"/>
              </a:rPr>
              <a:t>Normalidad por clase</a:t>
            </a:r>
          </a:p>
        </p:txBody>
      </p:sp>
      <p:sp>
        <p:nvSpPr>
          <p:cNvPr id="12" name="TextBox 11"/>
          <p:cNvSpPr txBox="1"/>
          <p:nvPr/>
        </p:nvSpPr>
        <p:spPr>
          <a:xfrm>
            <a:off x="3529584" y="5577840"/>
            <a:ext cx="2423160" cy="685800"/>
          </a:xfrm>
          <a:prstGeom prst="rect">
            <a:avLst/>
          </a:prstGeom>
          <a:noFill/>
        </p:spPr>
        <p:txBody>
          <a:bodyPr wrap="square" lIns="45720" rIns="45720" anchor="t">
            <a:spAutoFit/>
          </a:bodyPr>
          <a:lstStyle/>
          <a:p>
            <a:pPr algn="l">
              <a:spcAft>
                <a:spcPts val="400"/>
              </a:spcAft>
            </a:pPr>
            <a:r>
              <a:rPr sz="1200" b="0" i="0">
                <a:solidFill>
                  <a:srgbClr val="4A5560"/>
                </a:solidFill>
                <a:latin typeface="Calibri"/>
              </a:rPr>
              <a:t>Shapiro rechaza 86 % (dBm enteros), pero casi simétrica</a:t>
            </a:r>
          </a:p>
        </p:txBody>
      </p:sp>
      <p:sp>
        <p:nvSpPr>
          <p:cNvPr id="13" name="Rounded Rectangle 12"/>
          <p:cNvSpPr/>
          <p:nvPr/>
        </p:nvSpPr>
        <p:spPr>
          <a:xfrm>
            <a:off x="6181344" y="4937760"/>
            <a:ext cx="2679192" cy="13258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45936" y="5074920"/>
            <a:ext cx="438912" cy="438912"/>
          </a:xfrm>
          <a:prstGeom prst="ellipse">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FFFFFF"/>
                </a:solidFill>
                <a:latin typeface="Cambria"/>
              </a:rPr>
              <a:t>✗</a:t>
            </a:r>
          </a:p>
        </p:txBody>
      </p:sp>
      <p:sp>
        <p:nvSpPr>
          <p:cNvPr id="15" name="TextBox 14"/>
          <p:cNvSpPr txBox="1"/>
          <p:nvPr/>
        </p:nvSpPr>
        <p:spPr>
          <a:xfrm>
            <a:off x="6867144" y="5029200"/>
            <a:ext cx="1920240" cy="502920"/>
          </a:xfrm>
          <a:prstGeom prst="rect">
            <a:avLst/>
          </a:prstGeom>
          <a:noFill/>
        </p:spPr>
        <p:txBody>
          <a:bodyPr wrap="square" lIns="45720" rIns="45720" anchor="ctr">
            <a:spAutoFit/>
          </a:bodyPr>
          <a:lstStyle/>
          <a:p>
            <a:pPr algn="l">
              <a:spcAft>
                <a:spcPts val="400"/>
              </a:spcAft>
            </a:pPr>
            <a:r>
              <a:rPr sz="1400" b="1" i="0">
                <a:solidFill>
                  <a:srgbClr val="0B2E4F"/>
                </a:solidFill>
                <a:latin typeface="Calibri"/>
              </a:rPr>
              <a:t>Independencia (NB)</a:t>
            </a:r>
          </a:p>
        </p:txBody>
      </p:sp>
      <p:sp>
        <p:nvSpPr>
          <p:cNvPr id="16" name="TextBox 15"/>
          <p:cNvSpPr txBox="1"/>
          <p:nvPr/>
        </p:nvSpPr>
        <p:spPr>
          <a:xfrm>
            <a:off x="6345936" y="5577840"/>
            <a:ext cx="2423160" cy="685800"/>
          </a:xfrm>
          <a:prstGeom prst="rect">
            <a:avLst/>
          </a:prstGeom>
          <a:noFill/>
        </p:spPr>
        <p:txBody>
          <a:bodyPr wrap="square" lIns="45720" rIns="45720" anchor="t">
            <a:spAutoFit/>
          </a:bodyPr>
          <a:lstStyle/>
          <a:p>
            <a:pPr algn="l">
              <a:spcAft>
                <a:spcPts val="400"/>
              </a:spcAft>
            </a:pPr>
            <a:r>
              <a:rPr sz="1200" b="0" i="0">
                <a:solidFill>
                  <a:srgbClr val="4A5560"/>
                </a:solidFill>
                <a:latin typeface="Calibri"/>
              </a:rPr>
              <a:t>Q1–Q2–Q3 de un AP: r = 0.99</a:t>
            </a:r>
          </a:p>
        </p:txBody>
      </p:sp>
      <p:sp>
        <p:nvSpPr>
          <p:cNvPr id="17" name="Rounded Rectangle 16"/>
          <p:cNvSpPr/>
          <p:nvPr/>
        </p:nvSpPr>
        <p:spPr>
          <a:xfrm>
            <a:off x="8997696" y="4937760"/>
            <a:ext cx="2679192" cy="13258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162288" y="5074920"/>
            <a:ext cx="438912" cy="438912"/>
          </a:xfrm>
          <a:prstGeom prst="ellipse">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500" b="1">
                <a:solidFill>
                  <a:srgbClr val="FFFFFF"/>
                </a:solidFill>
                <a:latin typeface="Cambria"/>
              </a:rPr>
              <a:t>✗</a:t>
            </a:r>
          </a:p>
        </p:txBody>
      </p:sp>
      <p:sp>
        <p:nvSpPr>
          <p:cNvPr id="19" name="TextBox 18"/>
          <p:cNvSpPr txBox="1"/>
          <p:nvPr/>
        </p:nvSpPr>
        <p:spPr>
          <a:xfrm>
            <a:off x="9683496" y="5029200"/>
            <a:ext cx="1920240" cy="502920"/>
          </a:xfrm>
          <a:prstGeom prst="rect">
            <a:avLst/>
          </a:prstGeom>
          <a:noFill/>
        </p:spPr>
        <p:txBody>
          <a:bodyPr wrap="square" lIns="45720" rIns="45720" anchor="ctr">
            <a:spAutoFit/>
          </a:bodyPr>
          <a:lstStyle/>
          <a:p>
            <a:pPr algn="l">
              <a:spcAft>
                <a:spcPts val="400"/>
              </a:spcAft>
            </a:pPr>
            <a:r>
              <a:rPr sz="1400" b="1" i="0">
                <a:solidFill>
                  <a:srgbClr val="0B2E4F"/>
                </a:solidFill>
                <a:latin typeface="Calibri"/>
              </a:rPr>
              <a:t>Covarianza común (LDA)</a:t>
            </a:r>
          </a:p>
        </p:txBody>
      </p:sp>
      <p:sp>
        <p:nvSpPr>
          <p:cNvPr id="20" name="TextBox 19"/>
          <p:cNvSpPr txBox="1"/>
          <p:nvPr/>
        </p:nvSpPr>
        <p:spPr>
          <a:xfrm>
            <a:off x="9162288" y="5577840"/>
            <a:ext cx="2423160" cy="685800"/>
          </a:xfrm>
          <a:prstGeom prst="rect">
            <a:avLst/>
          </a:prstGeom>
          <a:noFill/>
        </p:spPr>
        <p:txBody>
          <a:bodyPr wrap="square" lIns="45720" rIns="45720" anchor="t">
            <a:spAutoFit/>
          </a:bodyPr>
          <a:lstStyle/>
          <a:p>
            <a:pPr algn="l">
              <a:spcAft>
                <a:spcPts val="400"/>
              </a:spcAft>
            </a:pPr>
            <a:r>
              <a:rPr sz="1200" b="0" i="0">
                <a:solidFill>
                  <a:srgbClr val="4A5560"/>
                </a:solidFill>
                <a:latin typeface="Calibri"/>
              </a:rPr>
              <a:t>Levene rechaza en 100 % → favorece QDA</a:t>
            </a:r>
          </a:p>
        </p:txBody>
      </p:sp>
      <p:sp>
        <p:nvSpPr>
          <p:cNvPr id="21" name="TextBox 20"/>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22" name="TextBox 21"/>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8</a:t>
            </a:r>
            <a:endParaRPr sz="1000" b="0" i="0">
              <a:solidFill>
                <a:srgbClr val="898781"/>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Un flujo sin fuga: el orden de las etapas importa</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Pipeline de scikit-learn · semilla 42 · validación cruzada agrupada por día</a:t>
            </a:r>
          </a:p>
        </p:txBody>
      </p:sp>
      <p:sp>
        <p:nvSpPr>
          <p:cNvPr id="4" name="Rounded Rectangle 3"/>
          <p:cNvSpPr/>
          <p:nvPr/>
        </p:nvSpPr>
        <p:spPr>
          <a:xfrm>
            <a:off x="548640" y="1965960"/>
            <a:ext cx="1965960" cy="15544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2057400"/>
            <a:ext cx="1691639" cy="502920"/>
          </a:xfrm>
          <a:prstGeom prst="rect">
            <a:avLst/>
          </a:prstGeom>
          <a:noFill/>
        </p:spPr>
        <p:txBody>
          <a:bodyPr wrap="square" lIns="45720" rIns="45720" anchor="t">
            <a:spAutoFit/>
          </a:bodyPr>
          <a:lstStyle/>
          <a:p>
            <a:pPr algn="l">
              <a:spcAft>
                <a:spcPts val="400"/>
              </a:spcAft>
            </a:pPr>
            <a:r>
              <a:rPr sz="1700" b="1" i="0">
                <a:solidFill>
                  <a:srgbClr val="0B2E4F"/>
                </a:solidFill>
                <a:latin typeface="Cambria"/>
              </a:rPr>
              <a:t>Cuartiles</a:t>
            </a:r>
          </a:p>
        </p:txBody>
      </p:sp>
      <p:sp>
        <p:nvSpPr>
          <p:cNvPr id="6" name="TextBox 5"/>
          <p:cNvSpPr txBox="1"/>
          <p:nvPr/>
        </p:nvSpPr>
        <p:spPr>
          <a:xfrm>
            <a:off x="685800" y="2606040"/>
            <a:ext cx="1691639" cy="868680"/>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por instancia, con sus 40 lecturas</a:t>
            </a:r>
          </a:p>
        </p:txBody>
      </p:sp>
      <p:cxnSp>
        <p:nvCxnSpPr>
          <p:cNvPr id="7" name="Connector 6"/>
          <p:cNvCxnSpPr/>
          <p:nvPr/>
        </p:nvCxnSpPr>
        <p:spPr>
          <a:xfrm>
            <a:off x="2551176" y="2743200"/>
            <a:ext cx="246888" cy="0"/>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34640" y="1965960"/>
            <a:ext cx="1965960" cy="15544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71800" y="2057400"/>
            <a:ext cx="1691639" cy="502920"/>
          </a:xfrm>
          <a:prstGeom prst="rect">
            <a:avLst/>
          </a:prstGeom>
          <a:noFill/>
        </p:spPr>
        <p:txBody>
          <a:bodyPr wrap="square" lIns="45720" rIns="45720" anchor="t">
            <a:spAutoFit/>
          </a:bodyPr>
          <a:lstStyle/>
          <a:p>
            <a:pPr algn="l">
              <a:spcAft>
                <a:spcPts val="400"/>
              </a:spcAft>
            </a:pPr>
            <a:r>
              <a:rPr sz="1700" b="1" i="0">
                <a:solidFill>
                  <a:srgbClr val="0B2E4F"/>
                </a:solidFill>
                <a:latin typeface="Cambria"/>
              </a:rPr>
              <a:t>Partición por días</a:t>
            </a:r>
          </a:p>
        </p:txBody>
      </p:sp>
      <p:sp>
        <p:nvSpPr>
          <p:cNvPr id="10" name="TextBox 9"/>
          <p:cNvSpPr txBox="1"/>
          <p:nvPr/>
        </p:nvSpPr>
        <p:spPr>
          <a:xfrm>
            <a:off x="2971800" y="2606040"/>
            <a:ext cx="1691639" cy="868680"/>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1–10 entrenamiento · 11–14 prueba</a:t>
            </a:r>
          </a:p>
        </p:txBody>
      </p:sp>
      <p:cxnSp>
        <p:nvCxnSpPr>
          <p:cNvPr id="11" name="Connector 10"/>
          <p:cNvCxnSpPr/>
          <p:nvPr/>
        </p:nvCxnSpPr>
        <p:spPr>
          <a:xfrm>
            <a:off x="4837176" y="2743200"/>
            <a:ext cx="246888" cy="0"/>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20640" y="1965960"/>
            <a:ext cx="1965960" cy="155448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57800" y="2057400"/>
            <a:ext cx="1691639" cy="502920"/>
          </a:xfrm>
          <a:prstGeom prst="rect">
            <a:avLst/>
          </a:prstGeom>
          <a:noFill/>
        </p:spPr>
        <p:txBody>
          <a:bodyPr wrap="square" lIns="45720" rIns="45720" anchor="t">
            <a:spAutoFit/>
          </a:bodyPr>
          <a:lstStyle/>
          <a:p>
            <a:pPr algn="l">
              <a:spcAft>
                <a:spcPts val="400"/>
              </a:spcAft>
            </a:pPr>
            <a:r>
              <a:rPr sz="1700" b="1" i="0">
                <a:solidFill>
                  <a:srgbClr val="29D3C5"/>
                </a:solidFill>
                <a:latin typeface="Cambria"/>
              </a:rPr>
              <a:t>Imputar</a:t>
            </a:r>
          </a:p>
        </p:txBody>
      </p:sp>
      <p:sp>
        <p:nvSpPr>
          <p:cNvPr id="14" name="TextBox 13"/>
          <p:cNvSpPr txBox="1"/>
          <p:nvPr/>
        </p:nvSpPr>
        <p:spPr>
          <a:xfrm>
            <a:off x="5257800" y="2606040"/>
            <a:ext cx="1691639" cy="868680"/>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mediana del pliegue de entrenamiento</a:t>
            </a:r>
          </a:p>
        </p:txBody>
      </p:sp>
      <p:cxnSp>
        <p:nvCxnSpPr>
          <p:cNvPr id="15" name="Connector 14"/>
          <p:cNvCxnSpPr/>
          <p:nvPr/>
        </p:nvCxnSpPr>
        <p:spPr>
          <a:xfrm>
            <a:off x="7123176" y="2743200"/>
            <a:ext cx="246888" cy="0"/>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06640" y="1965960"/>
            <a:ext cx="1965960" cy="155448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43800" y="2057400"/>
            <a:ext cx="1691639" cy="502920"/>
          </a:xfrm>
          <a:prstGeom prst="rect">
            <a:avLst/>
          </a:prstGeom>
          <a:noFill/>
        </p:spPr>
        <p:txBody>
          <a:bodyPr wrap="square" lIns="45720" rIns="45720" anchor="t">
            <a:spAutoFit/>
          </a:bodyPr>
          <a:lstStyle/>
          <a:p>
            <a:pPr algn="l">
              <a:spcAft>
                <a:spcPts val="400"/>
              </a:spcAft>
            </a:pPr>
            <a:r>
              <a:rPr sz="1700" b="1" i="0">
                <a:solidFill>
                  <a:srgbClr val="29D3C5"/>
                </a:solidFill>
                <a:latin typeface="Cambria"/>
              </a:rPr>
              <a:t>Escalar</a:t>
            </a:r>
          </a:p>
        </p:txBody>
      </p:sp>
      <p:sp>
        <p:nvSpPr>
          <p:cNvPr id="18" name="TextBox 17"/>
          <p:cNvSpPr txBox="1"/>
          <p:nvPr/>
        </p:nvSpPr>
        <p:spPr>
          <a:xfrm>
            <a:off x="7543800" y="2606040"/>
            <a:ext cx="1691639" cy="868680"/>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media y DE del pliegue de entrenamiento</a:t>
            </a:r>
          </a:p>
        </p:txBody>
      </p:sp>
      <p:cxnSp>
        <p:nvCxnSpPr>
          <p:cNvPr id="19" name="Connector 18"/>
          <p:cNvCxnSpPr/>
          <p:nvPr/>
        </p:nvCxnSpPr>
        <p:spPr>
          <a:xfrm>
            <a:off x="9409176" y="2743200"/>
            <a:ext cx="246888" cy="0"/>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92640" y="1965960"/>
            <a:ext cx="1965960" cy="155448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29800" y="2057400"/>
            <a:ext cx="1691639" cy="502920"/>
          </a:xfrm>
          <a:prstGeom prst="rect">
            <a:avLst/>
          </a:prstGeom>
          <a:noFill/>
        </p:spPr>
        <p:txBody>
          <a:bodyPr wrap="square" lIns="45720" rIns="45720" anchor="t">
            <a:spAutoFit/>
          </a:bodyPr>
          <a:lstStyle/>
          <a:p>
            <a:pPr algn="l">
              <a:spcAft>
                <a:spcPts val="400"/>
              </a:spcAft>
            </a:pPr>
            <a:r>
              <a:rPr sz="1700" b="1" i="0">
                <a:solidFill>
                  <a:srgbClr val="29D3C5"/>
                </a:solidFill>
                <a:latin typeface="Cambria"/>
              </a:rPr>
              <a:t>Modelo</a:t>
            </a:r>
          </a:p>
        </p:txBody>
      </p:sp>
      <p:sp>
        <p:nvSpPr>
          <p:cNvPr id="22" name="TextBox 21"/>
          <p:cNvSpPr txBox="1"/>
          <p:nvPr/>
        </p:nvSpPr>
        <p:spPr>
          <a:xfrm>
            <a:off x="9829800" y="2606040"/>
            <a:ext cx="1691639" cy="868680"/>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kNN · NB · logística · LDA · QDA</a:t>
            </a:r>
          </a:p>
        </p:txBody>
      </p:sp>
      <p:sp>
        <p:nvSpPr>
          <p:cNvPr id="23" name="Rounded Rectangle 22"/>
          <p:cNvSpPr/>
          <p:nvPr/>
        </p:nvSpPr>
        <p:spPr>
          <a:xfrm>
            <a:off x="5120640" y="3639312"/>
            <a:ext cx="6537959" cy="457200"/>
          </a:xfrm>
          <a:prstGeom prst="roundRect">
            <a:avLst>
              <a:gd name="adj" fmla="val 6000"/>
            </a:avLst>
          </a:prstGeom>
          <a:solidFill>
            <a:srgbClr val="E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0640" y="3639312"/>
            <a:ext cx="6537959" cy="457200"/>
          </a:xfrm>
          <a:prstGeom prst="rect">
            <a:avLst/>
          </a:prstGeom>
          <a:noFill/>
        </p:spPr>
        <p:txBody>
          <a:bodyPr wrap="square" lIns="45720" rIns="45720" anchor="ctr">
            <a:spAutoFit/>
          </a:bodyPr>
          <a:lstStyle/>
          <a:p>
            <a:pPr algn="ctr">
              <a:spcAft>
                <a:spcPts val="400"/>
              </a:spcAft>
            </a:pPr>
            <a:r>
              <a:rPr sz="1300" b="1" i="0">
                <a:solidFill>
                  <a:srgbClr val="1C7293"/>
                </a:solidFill>
                <a:latin typeface="Calibri"/>
              </a:rPr>
              <a:t>PIPELINE: se ajusta solo con el pliegue de entrenamiento</a:t>
            </a:r>
          </a:p>
        </p:txBody>
      </p:sp>
      <p:sp>
        <p:nvSpPr>
          <p:cNvPr id="25" name="Rounded Rectangle 24"/>
          <p:cNvSpPr/>
          <p:nvPr/>
        </p:nvSpPr>
        <p:spPr>
          <a:xfrm>
            <a:off x="548640" y="4434840"/>
            <a:ext cx="6675120" cy="17830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526280"/>
            <a:ext cx="6309360" cy="1645920"/>
          </a:xfrm>
          <a:prstGeom prst="rect">
            <a:avLst/>
          </a:prstGeom>
          <a:noFill/>
        </p:spPr>
        <p:txBody>
          <a:bodyPr wrap="square" lIns="45720" rIns="45720" anchor="t">
            <a:spAutoFit/>
          </a:bodyPr>
          <a:lstStyle/>
          <a:p>
            <a:pPr algn="l">
              <a:spcAft>
                <a:spcPts val="400"/>
              </a:spcAft>
            </a:pPr>
            <a:r>
              <a:rPr sz="1600" b="1" i="0">
                <a:solidFill>
                  <a:srgbClr val="0B2E4F"/>
                </a:solidFill>
                <a:latin typeface="Calibri"/>
              </a:rPr>
              <a:t>¿Por qué agrupar por día?</a:t>
            </a:r>
          </a:p>
          <a:p>
            <a:pPr algn="l">
              <a:spcAft>
                <a:spcPts val="400"/>
              </a:spcAft>
            </a:pPr>
            <a:r>
              <a:rPr sz="1400" b="0" i="0">
                <a:solidFill>
                  <a:srgbClr val="4A5560"/>
                </a:solidFill>
                <a:latin typeface="Calibri"/>
              </a:rPr>
              <a:t>Las visitas del mismo día comparten la deriva. Si se reparten al azar, el modelo puede «reconocer el día» en vez de la zona. La prueba son días que nunca vio.</a:t>
            </a:r>
          </a:p>
        </p:txBody>
      </p:sp>
      <p:sp>
        <p:nvSpPr>
          <p:cNvPr id="27" name="Rounded Rectangle 26"/>
          <p:cNvSpPr/>
          <p:nvPr/>
        </p:nvSpPr>
        <p:spPr>
          <a:xfrm>
            <a:off x="7452360" y="4434840"/>
            <a:ext cx="2011680" cy="178308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0" y="4572000"/>
            <a:ext cx="1554480" cy="980694"/>
          </a:xfrm>
          <a:prstGeom prst="rect">
            <a:avLst/>
          </a:prstGeom>
          <a:noFill/>
        </p:spPr>
        <p:txBody>
          <a:bodyPr wrap="square" lIns="45720" rIns="45720" anchor="b">
            <a:spAutoFit/>
          </a:bodyPr>
          <a:lstStyle/>
          <a:p>
            <a:pPr algn="l">
              <a:spcAft>
                <a:spcPts val="400"/>
              </a:spcAft>
            </a:pPr>
            <a:r>
              <a:rPr sz="2800" b="1" i="0">
                <a:solidFill>
                  <a:srgbClr val="0B2E4F"/>
                </a:solidFill>
                <a:latin typeface="Cambria"/>
              </a:rPr>
              <a:t>0.946</a:t>
            </a:r>
          </a:p>
        </p:txBody>
      </p:sp>
      <p:sp>
        <p:nvSpPr>
          <p:cNvPr id="29" name="TextBox 28"/>
          <p:cNvSpPr txBox="1"/>
          <p:nvPr/>
        </p:nvSpPr>
        <p:spPr>
          <a:xfrm>
            <a:off x="7680960" y="5469026"/>
            <a:ext cx="1554480" cy="713232"/>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CV al azar (más optimista)</a:t>
            </a:r>
          </a:p>
        </p:txBody>
      </p:sp>
      <p:sp>
        <p:nvSpPr>
          <p:cNvPr id="30" name="Rounded Rectangle 29"/>
          <p:cNvSpPr/>
          <p:nvPr/>
        </p:nvSpPr>
        <p:spPr>
          <a:xfrm>
            <a:off x="9646920" y="4434840"/>
            <a:ext cx="2011680" cy="178308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75520" y="4572000"/>
            <a:ext cx="1554480" cy="980694"/>
          </a:xfrm>
          <a:prstGeom prst="rect">
            <a:avLst/>
          </a:prstGeom>
          <a:noFill/>
        </p:spPr>
        <p:txBody>
          <a:bodyPr wrap="square" lIns="45720" rIns="45720" anchor="b">
            <a:spAutoFit/>
          </a:bodyPr>
          <a:lstStyle/>
          <a:p>
            <a:pPr algn="l">
              <a:spcAft>
                <a:spcPts val="400"/>
              </a:spcAft>
            </a:pPr>
            <a:r>
              <a:rPr sz="2800" b="1" i="0">
                <a:solidFill>
                  <a:srgbClr val="29D3C5"/>
                </a:solidFill>
                <a:latin typeface="Cambria"/>
              </a:rPr>
              <a:t>0.941</a:t>
            </a:r>
          </a:p>
        </p:txBody>
      </p:sp>
      <p:sp>
        <p:nvSpPr>
          <p:cNvPr id="32" name="TextBox 31"/>
          <p:cNvSpPr txBox="1"/>
          <p:nvPr/>
        </p:nvSpPr>
        <p:spPr>
          <a:xfrm>
            <a:off x="9875520" y="5469026"/>
            <a:ext cx="1554480" cy="713232"/>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CV por días (honesta)</a:t>
            </a:r>
          </a:p>
        </p:txBody>
      </p:sp>
      <p:sp>
        <p:nvSpPr>
          <p:cNvPr id="33" name="TextBox 32"/>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34" name="TextBox 33"/>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9</a:t>
            </a:r>
            <a:endParaRPr sz="1000" b="0" i="0">
              <a:solidFill>
                <a:srgbClr val="898781"/>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Cinco modelos del curso, ajustados por validación cruzada</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GridSearchCV con GroupKFold (5 pliegues de 2 días); criterio: accuracy</a:t>
            </a:r>
          </a:p>
        </p:txBody>
      </p:sp>
      <p:graphicFrame>
        <p:nvGraphicFramePr>
          <p:cNvPr id="4" name="Table 3"/>
          <p:cNvGraphicFramePr>
            <a:graphicFrameLocks noGrp="1"/>
          </p:cNvGraphicFramePr>
          <p:nvPr/>
        </p:nvGraphicFramePr>
        <p:xfrm>
          <a:off x="548640" y="1600200"/>
          <a:ext cx="11109960" cy="402336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74765">
                <a:tc>
                  <a:txBody>
                    <a:bodyPr/>
                    <a:lstStyle/>
                    <a:p>
                      <a:r>
                        <a:rPr sz="1500" b="1">
                          <a:solidFill>
                            <a:srgbClr val="FFFFFF"/>
                          </a:solidFill>
                          <a:latin typeface="Calibri"/>
                        </a:rPr>
                        <a:t>Modelo</a:t>
                      </a:r>
                    </a:p>
                  </a:txBody>
                  <a:tcPr marL="137160" marR="137160" anchor="ctr">
                    <a:solidFill>
                      <a:srgbClr val="0B2E4F"/>
                    </a:solidFill>
                  </a:tcPr>
                </a:tc>
                <a:tc>
                  <a:txBody>
                    <a:bodyPr/>
                    <a:lstStyle/>
                    <a:p>
                      <a:r>
                        <a:rPr sz="1500" b="1">
                          <a:solidFill>
                            <a:srgbClr val="FFFFFF"/>
                          </a:solidFill>
                          <a:latin typeface="Calibri"/>
                        </a:rPr>
                        <a:t>Qué se ajustó</a:t>
                      </a:r>
                    </a:p>
                  </a:txBody>
                  <a:tcPr marL="137160" marR="137160" anchor="ctr">
                    <a:solidFill>
                      <a:srgbClr val="0B2E4F"/>
                    </a:solidFill>
                  </a:tcPr>
                </a:tc>
                <a:tc>
                  <a:txBody>
                    <a:bodyPr/>
                    <a:lstStyle/>
                    <a:p>
                      <a:r>
                        <a:rPr sz="1500" b="1">
                          <a:solidFill>
                            <a:srgbClr val="FFFFFF"/>
                          </a:solidFill>
                          <a:latin typeface="Calibri"/>
                        </a:rPr>
                        <a:t>Elegido</a:t>
                      </a:r>
                    </a:p>
                  </a:txBody>
                  <a:tcPr marL="137160" marR="137160" anchor="ctr">
                    <a:solidFill>
                      <a:srgbClr val="0B2E4F"/>
                    </a:solidFill>
                  </a:tcPr>
                </a:tc>
                <a:extLst>
                  <a:ext uri="{0D108BD9-81ED-4DB2-BD59-A6C34878D82A}">
                    <a16:rowId xmlns:a16="http://schemas.microsoft.com/office/drawing/2014/main" val="10000"/>
                  </a:ext>
                </a:extLst>
              </a:tr>
              <a:tr h="574765">
                <a:tc>
                  <a:txBody>
                    <a:bodyPr/>
                    <a:lstStyle/>
                    <a:p>
                      <a:r>
                        <a:rPr sz="1500" b="1">
                          <a:solidFill>
                            <a:srgbClr val="0B2E4F"/>
                          </a:solidFill>
                          <a:latin typeface="Calibri"/>
                        </a:rPr>
                        <a:t>kNN</a:t>
                      </a:r>
                    </a:p>
                  </a:txBody>
                  <a:tcPr marL="137160" marR="137160" anchor="ctr">
                    <a:solidFill>
                      <a:srgbClr val="E3F1F6"/>
                    </a:solidFill>
                  </a:tcPr>
                </a:tc>
                <a:tc>
                  <a:txBody>
                    <a:bodyPr/>
                    <a:lstStyle/>
                    <a:p>
                      <a:r>
                        <a:rPr sz="1500" b="0">
                          <a:solidFill>
                            <a:srgbClr val="4A5560"/>
                          </a:solidFill>
                          <a:latin typeface="Calibri"/>
                        </a:rPr>
                        <a:t>k (1–25), distancia, pesos, escalado · 104 configuraciones</a:t>
                      </a:r>
                    </a:p>
                  </a:txBody>
                  <a:tcPr marL="137160" marR="137160" anchor="ctr">
                    <a:solidFill>
                      <a:srgbClr val="E3F1F6"/>
                    </a:solidFill>
                  </a:tcPr>
                </a:tc>
                <a:tc>
                  <a:txBody>
                    <a:bodyPr/>
                    <a:lstStyle/>
                    <a:p>
                      <a:r>
                        <a:rPr sz="1500" b="0">
                          <a:solidFill>
                            <a:srgbClr val="0B2E4F"/>
                          </a:solidFill>
                          <a:latin typeface="Calibri"/>
                        </a:rPr>
                        <a:t>k = 1 · Manhattan · sin escalar</a:t>
                      </a:r>
                    </a:p>
                  </a:txBody>
                  <a:tcPr marL="137160" marR="137160" anchor="ctr">
                    <a:solidFill>
                      <a:srgbClr val="E3F1F6"/>
                    </a:solidFill>
                  </a:tcPr>
                </a:tc>
                <a:extLst>
                  <a:ext uri="{0D108BD9-81ED-4DB2-BD59-A6C34878D82A}">
                    <a16:rowId xmlns:a16="http://schemas.microsoft.com/office/drawing/2014/main" val="10001"/>
                  </a:ext>
                </a:extLst>
              </a:tr>
              <a:tr h="574765">
                <a:tc>
                  <a:txBody>
                    <a:bodyPr/>
                    <a:lstStyle/>
                    <a:p>
                      <a:r>
                        <a:rPr sz="1500" b="1">
                          <a:solidFill>
                            <a:srgbClr val="0B2E4F"/>
                          </a:solidFill>
                          <a:latin typeface="Calibri"/>
                        </a:rPr>
                        <a:t>Naive Bayes gaussiano</a:t>
                      </a:r>
                    </a:p>
                  </a:txBody>
                  <a:tcPr marL="137160" marR="137160" anchor="ctr">
                    <a:solidFill>
                      <a:srgbClr val="FFFFFF"/>
                    </a:solidFill>
                  </a:tcPr>
                </a:tc>
                <a:tc>
                  <a:txBody>
                    <a:bodyPr/>
                    <a:lstStyle/>
                    <a:p>
                      <a:r>
                        <a:rPr sz="1500" b="0">
                          <a:solidFill>
                            <a:srgbClr val="4A5560"/>
                          </a:solidFill>
                          <a:latin typeface="Calibri"/>
                        </a:rPr>
                        <a:t>var_smoothing (10⁻⁹ a 10⁻¹)</a:t>
                      </a:r>
                    </a:p>
                  </a:txBody>
                  <a:tcPr marL="137160" marR="137160" anchor="ctr">
                    <a:solidFill>
                      <a:srgbClr val="FFFFFF"/>
                    </a:solidFill>
                  </a:tcPr>
                </a:tc>
                <a:tc>
                  <a:txBody>
                    <a:bodyPr/>
                    <a:lstStyle/>
                    <a:p>
                      <a:r>
                        <a:rPr sz="1500" b="0">
                          <a:solidFill>
                            <a:srgbClr val="0B2E4F"/>
                          </a:solidFill>
                          <a:latin typeface="Calibri"/>
                        </a:rPr>
                        <a:t>0.01</a:t>
                      </a:r>
                    </a:p>
                  </a:txBody>
                  <a:tcPr marL="137160" marR="137160" anchor="ctr">
                    <a:solidFill>
                      <a:srgbClr val="FFFFFF"/>
                    </a:solidFill>
                  </a:tcPr>
                </a:tc>
                <a:extLst>
                  <a:ext uri="{0D108BD9-81ED-4DB2-BD59-A6C34878D82A}">
                    <a16:rowId xmlns:a16="http://schemas.microsoft.com/office/drawing/2014/main" val="10002"/>
                  </a:ext>
                </a:extLst>
              </a:tr>
              <a:tr h="574765">
                <a:tc>
                  <a:txBody>
                    <a:bodyPr/>
                    <a:lstStyle/>
                    <a:p>
                      <a:r>
                        <a:rPr sz="1500" b="1">
                          <a:solidFill>
                            <a:srgbClr val="0B2E4F"/>
                          </a:solidFill>
                          <a:latin typeface="Calibri"/>
                        </a:rPr>
                        <a:t>Regresión logística (L2)</a:t>
                      </a:r>
                    </a:p>
                  </a:txBody>
                  <a:tcPr marL="137160" marR="137160" anchor="ctr">
                    <a:solidFill>
                      <a:srgbClr val="FFFFFF"/>
                    </a:solidFill>
                  </a:tcPr>
                </a:tc>
                <a:tc>
                  <a:txBody>
                    <a:bodyPr/>
                    <a:lstStyle/>
                    <a:p>
                      <a:r>
                        <a:rPr sz="1500" b="0">
                          <a:solidFill>
                            <a:srgbClr val="4A5560"/>
                          </a:solidFill>
                          <a:latin typeface="Calibri"/>
                        </a:rPr>
                        <a:t>C (10⁻³ a 10²)</a:t>
                      </a:r>
                    </a:p>
                  </a:txBody>
                  <a:tcPr marL="137160" marR="137160" anchor="ctr">
                    <a:solidFill>
                      <a:srgbClr val="FFFFFF"/>
                    </a:solidFill>
                  </a:tcPr>
                </a:tc>
                <a:tc>
                  <a:txBody>
                    <a:bodyPr/>
                    <a:lstStyle/>
                    <a:p>
                      <a:r>
                        <a:rPr sz="1500" b="0">
                          <a:solidFill>
                            <a:srgbClr val="0B2E4F"/>
                          </a:solidFill>
                          <a:latin typeface="Calibri"/>
                        </a:rPr>
                        <a:t>C = 10</a:t>
                      </a:r>
                    </a:p>
                  </a:txBody>
                  <a:tcPr marL="137160" marR="137160" anchor="ctr">
                    <a:solidFill>
                      <a:srgbClr val="FFFFFF"/>
                    </a:solidFill>
                  </a:tcPr>
                </a:tc>
                <a:extLst>
                  <a:ext uri="{0D108BD9-81ED-4DB2-BD59-A6C34878D82A}">
                    <a16:rowId xmlns:a16="http://schemas.microsoft.com/office/drawing/2014/main" val="10003"/>
                  </a:ext>
                </a:extLst>
              </a:tr>
              <a:tr h="574765">
                <a:tc>
                  <a:txBody>
                    <a:bodyPr/>
                    <a:lstStyle/>
                    <a:p>
                      <a:r>
                        <a:rPr sz="1500" b="1">
                          <a:solidFill>
                            <a:srgbClr val="0B2E4F"/>
                          </a:solidFill>
                          <a:latin typeface="Calibri"/>
                        </a:rPr>
                        <a:t>LDA</a:t>
                      </a:r>
                    </a:p>
                  </a:txBody>
                  <a:tcPr marL="137160" marR="137160" anchor="ctr">
                    <a:solidFill>
                      <a:srgbClr val="FFFFFF"/>
                    </a:solidFill>
                  </a:tcPr>
                </a:tc>
                <a:tc>
                  <a:txBody>
                    <a:bodyPr/>
                    <a:lstStyle/>
                    <a:p>
                      <a:r>
                        <a:rPr sz="1500" b="0">
                          <a:solidFill>
                            <a:srgbClr val="4A5560"/>
                          </a:solidFill>
                          <a:latin typeface="Calibri"/>
                        </a:rPr>
                        <a:t>shrinkage de la covarianza</a:t>
                      </a:r>
                    </a:p>
                  </a:txBody>
                  <a:tcPr marL="137160" marR="137160" anchor="ctr">
                    <a:solidFill>
                      <a:srgbClr val="FFFFFF"/>
                    </a:solidFill>
                  </a:tcPr>
                </a:tc>
                <a:tc>
                  <a:txBody>
                    <a:bodyPr/>
                    <a:lstStyle/>
                    <a:p>
                      <a:r>
                        <a:rPr sz="1500" b="0">
                          <a:solidFill>
                            <a:srgbClr val="0B2E4F"/>
                          </a:solidFill>
                          <a:latin typeface="Calibri"/>
                        </a:rPr>
                        <a:t>sin shrinkage</a:t>
                      </a:r>
                    </a:p>
                  </a:txBody>
                  <a:tcPr marL="137160" marR="137160" anchor="ctr">
                    <a:solidFill>
                      <a:srgbClr val="FFFFFF"/>
                    </a:solidFill>
                  </a:tcPr>
                </a:tc>
                <a:extLst>
                  <a:ext uri="{0D108BD9-81ED-4DB2-BD59-A6C34878D82A}">
                    <a16:rowId xmlns:a16="http://schemas.microsoft.com/office/drawing/2014/main" val="10004"/>
                  </a:ext>
                </a:extLst>
              </a:tr>
              <a:tr h="574765">
                <a:tc>
                  <a:txBody>
                    <a:bodyPr/>
                    <a:lstStyle/>
                    <a:p>
                      <a:r>
                        <a:rPr sz="1500" b="1">
                          <a:solidFill>
                            <a:srgbClr val="0B2E4F"/>
                          </a:solidFill>
                          <a:latin typeface="Calibri"/>
                        </a:rPr>
                        <a:t>QDA</a:t>
                      </a:r>
                    </a:p>
                  </a:txBody>
                  <a:tcPr marL="137160" marR="137160" anchor="ctr">
                    <a:solidFill>
                      <a:srgbClr val="FFFFFF"/>
                    </a:solidFill>
                  </a:tcPr>
                </a:tc>
                <a:tc>
                  <a:txBody>
                    <a:bodyPr/>
                    <a:lstStyle/>
                    <a:p>
                      <a:r>
                        <a:rPr sz="1500" b="0">
                          <a:solidFill>
                            <a:srgbClr val="4A5560"/>
                          </a:solidFill>
                          <a:latin typeface="Calibri"/>
                        </a:rPr>
                        <a:t>reg_param (regularización)</a:t>
                      </a:r>
                    </a:p>
                  </a:txBody>
                  <a:tcPr marL="137160" marR="137160" anchor="ctr">
                    <a:solidFill>
                      <a:srgbClr val="FFFFFF"/>
                    </a:solidFill>
                  </a:tcPr>
                </a:tc>
                <a:tc>
                  <a:txBody>
                    <a:bodyPr/>
                    <a:lstStyle/>
                    <a:p>
                      <a:r>
                        <a:rPr sz="1500" b="0">
                          <a:solidFill>
                            <a:srgbClr val="0B2E4F"/>
                          </a:solidFill>
                          <a:latin typeface="Calibri"/>
                        </a:rPr>
                        <a:t>0.01</a:t>
                      </a:r>
                    </a:p>
                  </a:txBody>
                  <a:tcPr marL="137160" marR="137160" anchor="ctr">
                    <a:solidFill>
                      <a:srgbClr val="FFFFFF"/>
                    </a:solidFill>
                  </a:tcPr>
                </a:tc>
                <a:extLst>
                  <a:ext uri="{0D108BD9-81ED-4DB2-BD59-A6C34878D82A}">
                    <a16:rowId xmlns:a16="http://schemas.microsoft.com/office/drawing/2014/main" val="10005"/>
                  </a:ext>
                </a:extLst>
              </a:tr>
              <a:tr h="574770">
                <a:tc>
                  <a:txBody>
                    <a:bodyPr/>
                    <a:lstStyle/>
                    <a:p>
                      <a:r>
                        <a:rPr sz="1500" b="1">
                          <a:solidFill>
                            <a:srgbClr val="0B2E4F"/>
                          </a:solidFill>
                          <a:latin typeface="Calibri"/>
                        </a:rPr>
                        <a:t>Línea base</a:t>
                      </a:r>
                    </a:p>
                  </a:txBody>
                  <a:tcPr marL="137160" marR="137160" anchor="ctr">
                    <a:solidFill>
                      <a:srgbClr val="FFFFFF"/>
                    </a:solidFill>
                  </a:tcPr>
                </a:tc>
                <a:tc>
                  <a:txBody>
                    <a:bodyPr/>
                    <a:lstStyle/>
                    <a:p>
                      <a:r>
                        <a:rPr sz="1500" b="0">
                          <a:solidFill>
                            <a:srgbClr val="4A5560"/>
                          </a:solidFill>
                          <a:latin typeface="Calibri"/>
                        </a:rPr>
                        <a:t>clase mayoritaria</a:t>
                      </a:r>
                    </a:p>
                  </a:txBody>
                  <a:tcPr marL="137160" marR="137160" anchor="ctr">
                    <a:solidFill>
                      <a:srgbClr val="FFFFFF"/>
                    </a:solidFill>
                  </a:tcPr>
                </a:tc>
                <a:tc>
                  <a:txBody>
                    <a:bodyPr/>
                    <a:lstStyle/>
                    <a:p>
                      <a:r>
                        <a:rPr sz="1500" b="0">
                          <a:solidFill>
                            <a:srgbClr val="0B2E4F"/>
                          </a:solidFill>
                          <a:latin typeface="Calibri"/>
                        </a:rPr>
                        <a:t>—</a:t>
                      </a:r>
                    </a:p>
                  </a:txBody>
                  <a:tcPr marL="137160" marR="137160" anchor="ctr">
                    <a:solidFill>
                      <a:srgbClr val="FFFF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548640" y="5806440"/>
            <a:ext cx="11109960" cy="457200"/>
          </a:xfrm>
          <a:prstGeom prst="rect">
            <a:avLst/>
          </a:prstGeom>
          <a:noFill/>
        </p:spPr>
        <p:txBody>
          <a:bodyPr wrap="square" lIns="45720" rIns="45720" anchor="t">
            <a:spAutoFit/>
          </a:bodyPr>
          <a:lstStyle/>
          <a:p>
            <a:pPr algn="l">
              <a:spcAft>
                <a:spcPts val="400"/>
              </a:spcAft>
            </a:pPr>
            <a:r>
              <a:rPr sz="1400" b="0" i="1">
                <a:solidFill>
                  <a:srgbClr val="1C7293"/>
                </a:solidFill>
                <a:latin typeface="Calibri"/>
              </a:rPr>
              <a:t>LDA y QDA se regularizan por la colinealidad de los cuartiles (r = 0.99 dentro de cada AP).</a:t>
            </a:r>
          </a:p>
        </p:txBody>
      </p:sp>
      <p:sp>
        <p:nvSpPr>
          <p:cNvPr id="6" name="TextBox 5"/>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7" name="TextBox 6"/>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10</a:t>
            </a:r>
            <a:endParaRPr sz="1000" b="0" i="0">
              <a:solidFill>
                <a:srgbClr val="898781"/>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kNN gana con claridad, y la diferencia es significativa</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Prueba en días nunca vistos (11–14), con intervalos bootstrap del 95 %</a:t>
            </a:r>
          </a:p>
        </p:txBody>
      </p:sp>
      <p:sp>
        <p:nvSpPr>
          <p:cNvPr id="4" name="Rounded Rectangle 3"/>
          <p:cNvSpPr/>
          <p:nvPr/>
        </p:nvSpPr>
        <p:spPr>
          <a:xfrm>
            <a:off x="548640" y="1600200"/>
            <a:ext cx="3566160" cy="178308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37360"/>
            <a:ext cx="3108960" cy="980694"/>
          </a:xfrm>
          <a:prstGeom prst="rect">
            <a:avLst/>
          </a:prstGeom>
          <a:noFill/>
        </p:spPr>
        <p:txBody>
          <a:bodyPr wrap="square" lIns="45720" rIns="45720" anchor="b">
            <a:spAutoFit/>
          </a:bodyPr>
          <a:lstStyle/>
          <a:p>
            <a:pPr algn="l">
              <a:spcAft>
                <a:spcPts val="400"/>
              </a:spcAft>
            </a:pPr>
            <a:r>
              <a:rPr sz="4000" b="1" i="0">
                <a:solidFill>
                  <a:srgbClr val="29D3C5"/>
                </a:solidFill>
                <a:latin typeface="Cambria"/>
              </a:rPr>
              <a:t>96.4%</a:t>
            </a:r>
          </a:p>
        </p:txBody>
      </p:sp>
      <p:sp>
        <p:nvSpPr>
          <p:cNvPr id="6" name="TextBox 5"/>
          <p:cNvSpPr txBox="1"/>
          <p:nvPr/>
        </p:nvSpPr>
        <p:spPr>
          <a:xfrm>
            <a:off x="777240" y="2634386"/>
            <a:ext cx="3108960" cy="713232"/>
          </a:xfrm>
          <a:prstGeom prst="rect">
            <a:avLst/>
          </a:prstGeom>
          <a:noFill/>
        </p:spPr>
        <p:txBody>
          <a:bodyPr wrap="square" lIns="45720" rIns="45720" anchor="t">
            <a:spAutoFit/>
          </a:bodyPr>
          <a:lstStyle/>
          <a:p>
            <a:pPr algn="l">
              <a:spcAft>
                <a:spcPts val="400"/>
              </a:spcAft>
            </a:pPr>
            <a:r>
              <a:rPr sz="1300" b="0" i="0">
                <a:solidFill>
                  <a:srgbClr val="FFFFFF"/>
                </a:solidFill>
                <a:latin typeface="Calibri"/>
              </a:rPr>
              <a:t>acierto de kNN (IC 95.4%–97.3%) · línea base 5.6 %</a:t>
            </a:r>
          </a:p>
        </p:txBody>
      </p:sp>
      <p:sp>
        <p:nvSpPr>
          <p:cNvPr id="7" name="Rounded Rectangle 6"/>
          <p:cNvSpPr/>
          <p:nvPr/>
        </p:nvSpPr>
        <p:spPr>
          <a:xfrm>
            <a:off x="548640" y="3520440"/>
            <a:ext cx="3566160" cy="137160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657600"/>
            <a:ext cx="3108960" cy="754380"/>
          </a:xfrm>
          <a:prstGeom prst="rect">
            <a:avLst/>
          </a:prstGeom>
          <a:noFill/>
        </p:spPr>
        <p:txBody>
          <a:bodyPr wrap="square" lIns="45720" rIns="45720" anchor="b">
            <a:spAutoFit/>
          </a:bodyPr>
          <a:lstStyle/>
          <a:p>
            <a:pPr algn="l">
              <a:spcAft>
                <a:spcPts val="400"/>
              </a:spcAft>
            </a:pPr>
            <a:r>
              <a:rPr sz="3200" b="1" i="0">
                <a:solidFill>
                  <a:srgbClr val="0B2E4F"/>
                </a:solidFill>
                <a:latin typeface="Cambria"/>
              </a:rPr>
              <a:t>0.22 m</a:t>
            </a:r>
          </a:p>
        </p:txBody>
      </p:sp>
      <p:sp>
        <p:nvSpPr>
          <p:cNvPr id="9" name="TextBox 8"/>
          <p:cNvSpPr txBox="1"/>
          <p:nvPr/>
        </p:nvSpPr>
        <p:spPr>
          <a:xfrm>
            <a:off x="777240" y="4315968"/>
            <a:ext cx="3108960" cy="548640"/>
          </a:xfrm>
          <a:prstGeom prst="rect">
            <a:avLst/>
          </a:prstGeom>
          <a:noFill/>
        </p:spPr>
        <p:txBody>
          <a:bodyPr wrap="square" lIns="45720" rIns="45720" anchor="t">
            <a:spAutoFit/>
          </a:bodyPr>
          <a:lstStyle/>
          <a:p>
            <a:pPr algn="l">
              <a:spcAft>
                <a:spcPts val="400"/>
              </a:spcAft>
            </a:pPr>
            <a:r>
              <a:rPr sz="1300" b="0" i="0">
                <a:solidFill>
                  <a:srgbClr val="4A5560"/>
                </a:solidFill>
                <a:latin typeface="Calibri"/>
              </a:rPr>
              <a:t>error medio de localización · línea base 15.2 m</a:t>
            </a:r>
          </a:p>
        </p:txBody>
      </p:sp>
      <p:sp>
        <p:nvSpPr>
          <p:cNvPr id="10" name="Rounded Rectangle 9"/>
          <p:cNvSpPr/>
          <p:nvPr/>
        </p:nvSpPr>
        <p:spPr>
          <a:xfrm>
            <a:off x="548640" y="5029200"/>
            <a:ext cx="3566160" cy="123444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102352"/>
            <a:ext cx="3246120" cy="1097280"/>
          </a:xfrm>
          <a:prstGeom prst="rect">
            <a:avLst/>
          </a:prstGeom>
          <a:noFill/>
        </p:spPr>
        <p:txBody>
          <a:bodyPr wrap="square" lIns="45720" rIns="45720" anchor="ctr">
            <a:spAutoFit/>
          </a:bodyPr>
          <a:lstStyle/>
          <a:p>
            <a:pPr algn="l">
              <a:spcAft>
                <a:spcPts val="400"/>
              </a:spcAft>
            </a:pPr>
            <a:r>
              <a:rPr sz="1350" b="1" i="0">
                <a:solidFill>
                  <a:srgbClr val="0B2E4F"/>
                </a:solidFill>
                <a:latin typeface="Calibri"/>
              </a:rPr>
              <a:t>McNemar vs. QDA: </a:t>
            </a:r>
            <a:r>
              <a:rPr sz="1350" b="0" i="0">
                <a:solidFill>
                  <a:srgbClr val="4A5560"/>
                </a:solidFill>
                <a:latin typeface="Calibri"/>
              </a:rPr>
              <a:t>p = 0.0007</a:t>
            </a:r>
          </a:p>
          <a:p>
            <a:pPr algn="l">
              <a:spcAft>
                <a:spcPts val="400"/>
              </a:spcAft>
            </a:pPr>
            <a:r>
              <a:rPr sz="1350" b="0" i="0">
                <a:solidFill>
                  <a:srgbClr val="4A5560"/>
                </a:solidFill>
                <a:latin typeface="Calibri"/>
              </a:rPr>
              <a:t>CV ≈ prueba → sin sobreajuste a la validación</a:t>
            </a:r>
          </a:p>
        </p:txBody>
      </p:sp>
      <p:pic>
        <p:nvPicPr>
          <p:cNvPr id="12" name="Picture 11" descr="fig4_comparacion_a.png"/>
          <p:cNvPicPr>
            <a:picLocks noChangeAspect="1"/>
          </p:cNvPicPr>
          <p:nvPr/>
        </p:nvPicPr>
        <p:blipFill>
          <a:blip r:embed="rId3"/>
          <a:stretch>
            <a:fillRect/>
          </a:stretch>
        </p:blipFill>
        <p:spPr>
          <a:xfrm>
            <a:off x="4803964" y="1554480"/>
            <a:ext cx="6394070" cy="3291840"/>
          </a:xfrm>
          <a:prstGeom prst="rect">
            <a:avLst/>
          </a:prstGeom>
        </p:spPr>
      </p:pic>
      <p:sp>
        <p:nvSpPr>
          <p:cNvPr id="13" name="Rounded Rectangle 12"/>
          <p:cNvSpPr/>
          <p:nvPr/>
        </p:nvSpPr>
        <p:spPr>
          <a:xfrm>
            <a:off x="4343400" y="5029200"/>
            <a:ext cx="3566160" cy="123444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5102352"/>
            <a:ext cx="3246120" cy="1097280"/>
          </a:xfrm>
          <a:prstGeom prst="rect">
            <a:avLst/>
          </a:prstGeom>
          <a:noFill/>
        </p:spPr>
        <p:txBody>
          <a:bodyPr wrap="square" lIns="45720" rIns="45720" anchor="ctr">
            <a:spAutoFit/>
          </a:bodyPr>
          <a:lstStyle/>
          <a:p>
            <a:pPr algn="l">
              <a:spcAft>
                <a:spcPts val="400"/>
              </a:spcAft>
            </a:pPr>
            <a:r>
              <a:rPr sz="1300" b="1" i="0">
                <a:solidFill>
                  <a:srgbClr val="0B2E4F"/>
                </a:solidFill>
                <a:latin typeface="Calibri"/>
              </a:rPr>
              <a:t>Mejor k = 1, </a:t>
            </a:r>
            <a:r>
              <a:rPr sz="1300" b="0" i="0">
                <a:solidFill>
                  <a:srgbClr val="4A5560"/>
                </a:solidFill>
                <a:latin typeface="Calibri"/>
              </a:rPr>
              <a:t>igual que en el artículo: al subir k entran vecinos de la zona contigua (0.960 → 0.932 con k = 25).</a:t>
            </a:r>
          </a:p>
        </p:txBody>
      </p:sp>
      <p:sp>
        <p:nvSpPr>
          <p:cNvPr id="15" name="Rounded Rectangle 14"/>
          <p:cNvSpPr/>
          <p:nvPr/>
        </p:nvSpPr>
        <p:spPr>
          <a:xfrm>
            <a:off x="8092440" y="5029200"/>
            <a:ext cx="3566160" cy="123444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75320" y="5102352"/>
            <a:ext cx="3246120" cy="1097280"/>
          </a:xfrm>
          <a:prstGeom prst="rect">
            <a:avLst/>
          </a:prstGeom>
          <a:noFill/>
        </p:spPr>
        <p:txBody>
          <a:bodyPr wrap="square" lIns="45720" rIns="45720" anchor="ctr">
            <a:spAutoFit/>
          </a:bodyPr>
          <a:lstStyle/>
          <a:p>
            <a:pPr algn="l">
              <a:spcAft>
                <a:spcPts val="400"/>
              </a:spcAft>
            </a:pPr>
            <a:r>
              <a:rPr sz="1300" b="1" i="0">
                <a:solidFill>
                  <a:srgbClr val="0B2E4F"/>
                </a:solidFill>
                <a:latin typeface="Calibri"/>
              </a:rPr>
              <a:t>Orden anticipado: </a:t>
            </a:r>
            <a:r>
              <a:rPr sz="1300" b="0" i="0">
                <a:solidFill>
                  <a:srgbClr val="4A5560"/>
                </a:solidFill>
                <a:latin typeface="Calibri"/>
              </a:rPr>
              <a:t>QDA &gt; logística &gt; LDA ≈ NB, tal como predecían los supuestos verificados.</a:t>
            </a:r>
          </a:p>
        </p:txBody>
      </p:sp>
      <p:sp>
        <p:nvSpPr>
          <p:cNvPr id="17" name="TextBox 16"/>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18" name="TextBox 17"/>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11</a:t>
            </a:r>
            <a:endParaRPr sz="1000" b="0" i="0">
              <a:solidFill>
                <a:srgbClr val="898781"/>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Reproducimos los objetivos del artículo</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Barrido de su Tabla 3 (n APs × k) y nuestro flujo sobre sus datos reales</a:t>
            </a:r>
          </a:p>
        </p:txBody>
      </p:sp>
      <p:pic>
        <p:nvPicPr>
          <p:cNvPr id="4" name="Picture 3" descr="fig5_articulo_a.png"/>
          <p:cNvPicPr>
            <a:picLocks noChangeAspect="1"/>
          </p:cNvPicPr>
          <p:nvPr/>
        </p:nvPicPr>
        <p:blipFill>
          <a:blip r:embed="rId3"/>
          <a:stretch>
            <a:fillRect/>
          </a:stretch>
        </p:blipFill>
        <p:spPr>
          <a:xfrm>
            <a:off x="548640" y="1509203"/>
            <a:ext cx="5120640" cy="4296792"/>
          </a:xfrm>
          <a:prstGeom prst="rect">
            <a:avLst/>
          </a:prstGeom>
        </p:spPr>
      </p:pic>
      <p:pic>
        <p:nvPicPr>
          <p:cNvPr id="5" name="Picture 4" descr="fig5_articulo_c.png"/>
          <p:cNvPicPr>
            <a:picLocks noChangeAspect="1"/>
          </p:cNvPicPr>
          <p:nvPr/>
        </p:nvPicPr>
        <p:blipFill>
          <a:blip r:embed="rId4"/>
          <a:stretch>
            <a:fillRect/>
          </a:stretch>
        </p:blipFill>
        <p:spPr>
          <a:xfrm>
            <a:off x="5989320" y="1609331"/>
            <a:ext cx="3657600" cy="2907816"/>
          </a:xfrm>
          <a:prstGeom prst="rect">
            <a:avLst/>
          </a:prstGeom>
        </p:spPr>
      </p:pic>
      <p:sp>
        <p:nvSpPr>
          <p:cNvPr id="6" name="Rounded Rectangle 5"/>
          <p:cNvSpPr/>
          <p:nvPr/>
        </p:nvSpPr>
        <p:spPr>
          <a:xfrm>
            <a:off x="9829800" y="1600200"/>
            <a:ext cx="1828800" cy="292608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0" y="1737360"/>
            <a:ext cx="1371600" cy="1609344"/>
          </a:xfrm>
          <a:prstGeom prst="rect">
            <a:avLst/>
          </a:prstGeom>
          <a:noFill/>
        </p:spPr>
        <p:txBody>
          <a:bodyPr wrap="square" lIns="45720" rIns="45720" anchor="b">
            <a:spAutoFit/>
          </a:bodyPr>
          <a:lstStyle/>
          <a:p>
            <a:pPr algn="l">
              <a:spcAft>
                <a:spcPts val="400"/>
              </a:spcAft>
            </a:pPr>
            <a:r>
              <a:rPr sz="2800" b="1" i="0">
                <a:solidFill>
                  <a:srgbClr val="29D3C5"/>
                </a:solidFill>
                <a:latin typeface="Cambria"/>
              </a:rPr>
              <a:t>100 %</a:t>
            </a:r>
          </a:p>
        </p:txBody>
      </p:sp>
      <p:sp>
        <p:nvSpPr>
          <p:cNvPr id="8" name="TextBox 7"/>
          <p:cNvSpPr txBox="1"/>
          <p:nvPr/>
        </p:nvSpPr>
        <p:spPr>
          <a:xfrm>
            <a:off x="10058400" y="3297326"/>
            <a:ext cx="1371600" cy="1170432"/>
          </a:xfrm>
          <a:prstGeom prst="rect">
            <a:avLst/>
          </a:prstGeom>
          <a:noFill/>
        </p:spPr>
        <p:txBody>
          <a:bodyPr wrap="square" lIns="45720" rIns="45720" anchor="t">
            <a:spAutoFit/>
          </a:bodyPr>
          <a:lstStyle/>
          <a:p>
            <a:pPr algn="l">
              <a:spcAft>
                <a:spcPts val="400"/>
              </a:spcAft>
            </a:pPr>
            <a:r>
              <a:rPr sz="1200" b="0" i="0">
                <a:solidFill>
                  <a:srgbClr val="FFFFFF"/>
                </a:solidFill>
                <a:latin typeface="Calibri"/>
              </a:rPr>
              <a:t>con 4 APs y k = 1 en datos reales = su ME de 0 m</a:t>
            </a:r>
          </a:p>
        </p:txBody>
      </p:sp>
      <p:sp>
        <p:nvSpPr>
          <p:cNvPr id="9" name="Rounded Rectangle 8"/>
          <p:cNvSpPr/>
          <p:nvPr/>
        </p:nvSpPr>
        <p:spPr>
          <a:xfrm>
            <a:off x="5989320" y="4800600"/>
            <a:ext cx="5669280" cy="141732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4864608"/>
            <a:ext cx="5303520" cy="1325880"/>
          </a:xfrm>
          <a:prstGeom prst="rect">
            <a:avLst/>
          </a:prstGeom>
          <a:noFill/>
        </p:spPr>
        <p:txBody>
          <a:bodyPr wrap="square" lIns="45720" rIns="45720" anchor="ctr">
            <a:spAutoFit/>
          </a:bodyPr>
          <a:lstStyle/>
          <a:p>
            <a:pPr algn="l">
              <a:spcAft>
                <a:spcPts val="400"/>
              </a:spcAft>
            </a:pPr>
            <a:r>
              <a:rPr sz="1400" b="1" i="0">
                <a:solidFill>
                  <a:srgbClr val="0B2E4F"/>
                </a:solidFill>
                <a:latin typeface="Calibri"/>
              </a:rPr>
              <a:t>Como en el artículo: </a:t>
            </a:r>
            <a:r>
              <a:rPr sz="1400" b="0" i="0">
                <a:solidFill>
                  <a:srgbClr val="4A5560"/>
                </a:solidFill>
                <a:latin typeface="Calibri"/>
              </a:rPr>
              <a:t>el error cae con el número de APs (≈ 6 m con 2 APs → 0.28 m con 8) y k influye poco en el método de RP mayoritario.</a:t>
            </a:r>
          </a:p>
        </p:txBody>
      </p:sp>
      <p:sp>
        <p:nvSpPr>
          <p:cNvPr id="11" name="TextBox 10"/>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12" name="TextBox 11"/>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12</a:t>
            </a:r>
            <a:endParaRPr sz="1000" b="0" i="0">
              <a:solidFill>
                <a:srgbClr val="898781"/>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¿Por qué ayudan los cuartiles? Una respuesta con matices</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Misma kNN, cuatro representaciones de las 40 lecturas</a:t>
            </a:r>
          </a:p>
        </p:txBody>
      </p:sp>
      <p:pic>
        <p:nvPicPr>
          <p:cNvPr id="4" name="Picture 3" descr="fig5_articulo_b.png"/>
          <p:cNvPicPr>
            <a:picLocks noChangeAspect="1"/>
          </p:cNvPicPr>
          <p:nvPr/>
        </p:nvPicPr>
        <p:blipFill>
          <a:blip r:embed="rId3"/>
          <a:stretch>
            <a:fillRect/>
          </a:stretch>
        </p:blipFill>
        <p:spPr>
          <a:xfrm>
            <a:off x="691089" y="1463040"/>
            <a:ext cx="5110060" cy="4480560"/>
          </a:xfrm>
          <a:prstGeom prst="rect">
            <a:avLst/>
          </a:prstGeom>
        </p:spPr>
      </p:pic>
      <p:graphicFrame>
        <p:nvGraphicFramePr>
          <p:cNvPr id="5" name="Chart 4"/>
          <p:cNvGraphicFramePr>
            <a:graphicFrameLocks noGrp="1"/>
          </p:cNvGraphicFramePr>
          <p:nvPr/>
        </p:nvGraphicFramePr>
        <p:xfrm>
          <a:off x="6217920" y="1463040"/>
          <a:ext cx="544068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6" name="Rounded Rectangle 5"/>
          <p:cNvSpPr/>
          <p:nvPr/>
        </p:nvSpPr>
        <p:spPr>
          <a:xfrm>
            <a:off x="6217920" y="4160520"/>
            <a:ext cx="5440680" cy="210312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46520" y="4251960"/>
            <a:ext cx="5029200" cy="1965960"/>
          </a:xfrm>
          <a:prstGeom prst="rect">
            <a:avLst/>
          </a:prstGeom>
          <a:noFill/>
        </p:spPr>
        <p:txBody>
          <a:bodyPr wrap="square" lIns="45720" rIns="45720" anchor="t">
            <a:spAutoFit/>
          </a:bodyPr>
          <a:lstStyle/>
          <a:p>
            <a:pPr algn="l">
              <a:spcAft>
                <a:spcPts val="700"/>
              </a:spcAft>
            </a:pPr>
            <a:r>
              <a:rPr sz="1400" b="1" i="0">
                <a:solidFill>
                  <a:srgbClr val="29D3C5"/>
                </a:solidFill>
                <a:latin typeface="Calibri"/>
              </a:rPr>
              <a:t>Resumir lecturas</a:t>
            </a:r>
            <a:r>
              <a:rPr sz="1400" b="0" i="0">
                <a:solidFill>
                  <a:srgbClr val="FFFFFF"/>
                </a:solidFill>
                <a:latin typeface="Calibri"/>
              </a:rPr>
              <a:t> es lo que más aporta: +7 a +12 puntos frente a una lectura cruda.</a:t>
            </a:r>
          </a:p>
          <a:p>
            <a:pPr algn="l">
              <a:spcAft>
                <a:spcPts val="700"/>
              </a:spcAft>
            </a:pPr>
            <a:r>
              <a:rPr sz="1400" b="1" i="0">
                <a:solidFill>
                  <a:srgbClr val="29D3C5"/>
                </a:solidFill>
                <a:latin typeface="Calibri"/>
              </a:rPr>
              <a:t>Q1 y Q3 suman </a:t>
            </a:r>
            <a:r>
              <a:rPr sz="1400" b="0" i="0">
                <a:solidFill>
                  <a:srgbClr val="FFFFFF"/>
                </a:solidFill>
                <a:latin typeface="Calibri"/>
              </a:rPr>
              <a:t>solo con pocos APs: +3.2 puntos con 2 APs; ≈ 0 desde 4 APs.</a:t>
            </a:r>
          </a:p>
          <a:p>
            <a:pPr algn="l">
              <a:spcAft>
                <a:spcPts val="700"/>
              </a:spcAft>
            </a:pPr>
            <a:r>
              <a:rPr sz="1400" b="1" i="0">
                <a:solidFill>
                  <a:srgbClr val="29D3C5"/>
                </a:solidFill>
                <a:latin typeface="Calibri"/>
              </a:rPr>
              <a:t>Con suficientes APs, </a:t>
            </a:r>
            <a:r>
              <a:rPr sz="1400" b="0" i="0">
                <a:solidFill>
                  <a:srgbClr val="FFFFFF"/>
                </a:solidFill>
                <a:latin typeface="Calibri"/>
              </a:rPr>
              <a:t>el nivel de señal ya separa las zonas.</a:t>
            </a:r>
          </a:p>
        </p:txBody>
      </p:sp>
      <p:sp>
        <p:nvSpPr>
          <p:cNvPr id="8" name="TextBox 7"/>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9" name="TextBox 8"/>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13</a:t>
            </a:r>
            <a:endParaRPr sz="1000" b="0" i="0">
              <a:solidFill>
                <a:srgbClr val="898781"/>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9FB"/>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11064240" cy="685800"/>
          </a:xfrm>
          <a:prstGeom prst="rect">
            <a:avLst/>
          </a:prstGeom>
          <a:noFill/>
        </p:spPr>
        <p:txBody>
          <a:bodyPr wrap="square" lIns="45720" rIns="45720" anchor="ctr">
            <a:spAutoFit/>
          </a:bodyPr>
          <a:lstStyle/>
          <a:p>
            <a:pPr algn="l">
              <a:spcAft>
                <a:spcPts val="400"/>
              </a:spcAft>
            </a:pPr>
            <a:r>
              <a:rPr sz="3000" b="1" i="0">
                <a:solidFill>
                  <a:srgbClr val="0B2E4F"/>
                </a:solidFill>
                <a:latin typeface="Cambria"/>
              </a:rPr>
              <a:t>Qué dice el mejor modelo</a:t>
            </a:r>
          </a:p>
        </p:txBody>
      </p:sp>
      <p:sp>
        <p:nvSpPr>
          <p:cNvPr id="3" name="TextBox 2"/>
          <p:cNvSpPr txBox="1"/>
          <p:nvPr/>
        </p:nvSpPr>
        <p:spPr>
          <a:xfrm>
            <a:off x="548640" y="987552"/>
            <a:ext cx="11064240" cy="365760"/>
          </a:xfrm>
          <a:prstGeom prst="rect">
            <a:avLst/>
          </a:prstGeom>
          <a:noFill/>
        </p:spPr>
        <p:txBody>
          <a:bodyPr wrap="square" lIns="45720" rIns="45720" anchor="t">
            <a:spAutoFit/>
          </a:bodyPr>
          <a:lstStyle/>
          <a:p>
            <a:pPr algn="l">
              <a:spcAft>
                <a:spcPts val="400"/>
              </a:spcAft>
            </a:pPr>
            <a:r>
              <a:rPr sz="1500" b="0" i="1">
                <a:solidFill>
                  <a:srgbClr val="1C7293"/>
                </a:solidFill>
                <a:latin typeface="Calibri"/>
              </a:rPr>
              <a:t>kNN en prueba: dónde falla, qué variables pesan y qué implica</a:t>
            </a:r>
          </a:p>
        </p:txBody>
      </p:sp>
      <p:pic>
        <p:nvPicPr>
          <p:cNvPr id="4" name="Picture 3" descr="fig6_interpretacion.png"/>
          <p:cNvPicPr>
            <a:picLocks noChangeAspect="1"/>
          </p:cNvPicPr>
          <p:nvPr/>
        </p:nvPicPr>
        <p:blipFill>
          <a:blip r:embed="rId3"/>
          <a:stretch>
            <a:fillRect/>
          </a:stretch>
        </p:blipFill>
        <p:spPr>
          <a:xfrm>
            <a:off x="548640" y="1436965"/>
            <a:ext cx="11109960" cy="3298269"/>
          </a:xfrm>
          <a:prstGeom prst="rect">
            <a:avLst/>
          </a:prstGeom>
        </p:spPr>
      </p:pic>
      <p:sp>
        <p:nvSpPr>
          <p:cNvPr id="5" name="Rounded Rectangle 4"/>
          <p:cNvSpPr/>
          <p:nvPr/>
        </p:nvSpPr>
        <p:spPr>
          <a:xfrm>
            <a:off x="548640" y="4892040"/>
            <a:ext cx="3611880" cy="1371600"/>
          </a:xfrm>
          <a:prstGeom prst="roundRect">
            <a:avLst>
              <a:gd name="adj" fmla="val 6000"/>
            </a:avLst>
          </a:prstGeom>
          <a:solidFill>
            <a:srgbClr val="0B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956048"/>
            <a:ext cx="3291840" cy="502920"/>
          </a:xfrm>
          <a:prstGeom prst="rect">
            <a:avLst/>
          </a:prstGeom>
          <a:noFill/>
        </p:spPr>
        <p:txBody>
          <a:bodyPr wrap="square" lIns="45720" rIns="45720" anchor="t">
            <a:spAutoFit/>
          </a:bodyPr>
          <a:lstStyle/>
          <a:p>
            <a:pPr algn="l">
              <a:spcAft>
                <a:spcPts val="400"/>
              </a:spcAft>
            </a:pPr>
            <a:r>
              <a:rPr sz="2200" b="1" i="0">
                <a:solidFill>
                  <a:srgbClr val="29D3C5"/>
                </a:solidFill>
                <a:latin typeface="Cambria"/>
              </a:rPr>
              <a:t>83 %</a:t>
            </a:r>
          </a:p>
        </p:txBody>
      </p:sp>
      <p:sp>
        <p:nvSpPr>
          <p:cNvPr id="7" name="TextBox 6"/>
          <p:cNvSpPr txBox="1"/>
          <p:nvPr/>
        </p:nvSpPr>
        <p:spPr>
          <a:xfrm>
            <a:off x="731520" y="5440680"/>
            <a:ext cx="3291840" cy="777240"/>
          </a:xfrm>
          <a:prstGeom prst="rect">
            <a:avLst/>
          </a:prstGeom>
          <a:noFill/>
        </p:spPr>
        <p:txBody>
          <a:bodyPr wrap="square" lIns="45720" rIns="45720" anchor="t">
            <a:spAutoFit/>
          </a:bodyPr>
          <a:lstStyle/>
          <a:p>
            <a:pPr algn="l">
              <a:spcAft>
                <a:spcPts val="400"/>
              </a:spcAft>
            </a:pPr>
            <a:r>
              <a:rPr sz="1250" b="0" i="0">
                <a:solidFill>
                  <a:srgbClr val="FFFFFF"/>
                </a:solidFill>
                <a:latin typeface="Calibri"/>
              </a:rPr>
              <a:t>de las fallas son a la zona de al lado: el error típico es «la habitación vecina»</a:t>
            </a:r>
          </a:p>
        </p:txBody>
      </p:sp>
      <p:sp>
        <p:nvSpPr>
          <p:cNvPr id="8" name="Rounded Rectangle 7"/>
          <p:cNvSpPr/>
          <p:nvPr/>
        </p:nvSpPr>
        <p:spPr>
          <a:xfrm>
            <a:off x="4297679" y="4892040"/>
            <a:ext cx="3611880" cy="137160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59" y="4956048"/>
            <a:ext cx="3291840" cy="502920"/>
          </a:xfrm>
          <a:prstGeom prst="rect">
            <a:avLst/>
          </a:prstGeom>
          <a:noFill/>
        </p:spPr>
        <p:txBody>
          <a:bodyPr wrap="square" lIns="45720" rIns="45720" anchor="t">
            <a:spAutoFit/>
          </a:bodyPr>
          <a:lstStyle/>
          <a:p>
            <a:pPr algn="l">
              <a:spcAft>
                <a:spcPts val="400"/>
              </a:spcAft>
            </a:pPr>
            <a:r>
              <a:rPr sz="2200" b="1" i="0">
                <a:solidFill>
                  <a:srgbClr val="0B2E4F"/>
                </a:solidFill>
                <a:latin typeface="Cambria"/>
              </a:rPr>
              <a:t>Z17 · 88%</a:t>
            </a:r>
          </a:p>
        </p:txBody>
      </p:sp>
      <p:sp>
        <p:nvSpPr>
          <p:cNvPr id="10" name="TextBox 9"/>
          <p:cNvSpPr txBox="1"/>
          <p:nvPr/>
        </p:nvSpPr>
        <p:spPr>
          <a:xfrm>
            <a:off x="4480559" y="5440680"/>
            <a:ext cx="3291840" cy="777240"/>
          </a:xfrm>
          <a:prstGeom prst="rect">
            <a:avLst/>
          </a:prstGeom>
          <a:noFill/>
        </p:spPr>
        <p:txBody>
          <a:bodyPr wrap="square" lIns="45720" rIns="45720" anchor="t">
            <a:spAutoFit/>
          </a:bodyPr>
          <a:lstStyle/>
          <a:p>
            <a:pPr algn="l">
              <a:spcAft>
                <a:spcPts val="400"/>
              </a:spcAft>
            </a:pPr>
            <a:r>
              <a:rPr sz="1250" b="0" i="0">
                <a:solidFill>
                  <a:srgbClr val="4A5560"/>
                </a:solidFill>
                <a:latin typeface="Calibri"/>
              </a:rPr>
              <a:t>zona más difícil: oficina sin AP propio, separada del corredor por un muro</a:t>
            </a:r>
          </a:p>
        </p:txBody>
      </p:sp>
      <p:sp>
        <p:nvSpPr>
          <p:cNvPr id="11" name="Rounded Rectangle 10"/>
          <p:cNvSpPr/>
          <p:nvPr/>
        </p:nvSpPr>
        <p:spPr>
          <a:xfrm>
            <a:off x="8046719" y="4892040"/>
            <a:ext cx="3611880" cy="1371600"/>
          </a:xfrm>
          <a:prstGeom prst="roundRect">
            <a:avLst>
              <a:gd name="adj" fmla="val 6000"/>
            </a:avLst>
          </a:prstGeom>
          <a:solidFill>
            <a:srgbClr val="FFFFFF"/>
          </a:solidFill>
          <a:ln w="9525">
            <a:solidFill>
              <a:srgbClr val="D6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9" y="4956048"/>
            <a:ext cx="3291840" cy="502920"/>
          </a:xfrm>
          <a:prstGeom prst="rect">
            <a:avLst/>
          </a:prstGeom>
          <a:noFill/>
        </p:spPr>
        <p:txBody>
          <a:bodyPr wrap="square" lIns="45720" rIns="45720" anchor="t">
            <a:spAutoFit/>
          </a:bodyPr>
          <a:lstStyle/>
          <a:p>
            <a:pPr algn="l">
              <a:spcAft>
                <a:spcPts val="400"/>
              </a:spcAft>
            </a:pPr>
            <a:r>
              <a:rPr sz="2200" b="1" i="0">
                <a:solidFill>
                  <a:srgbClr val="0B2E4F"/>
                </a:solidFill>
                <a:latin typeface="Cambria"/>
              </a:rPr>
              <a:t>Q1</a:t>
            </a:r>
          </a:p>
        </p:txBody>
      </p:sp>
      <p:sp>
        <p:nvSpPr>
          <p:cNvPr id="13" name="TextBox 12"/>
          <p:cNvSpPr txBox="1"/>
          <p:nvPr/>
        </p:nvSpPr>
        <p:spPr>
          <a:xfrm>
            <a:off x="8229599" y="5440680"/>
            <a:ext cx="3291840" cy="777240"/>
          </a:xfrm>
          <a:prstGeom prst="rect">
            <a:avLst/>
          </a:prstGeom>
          <a:noFill/>
        </p:spPr>
        <p:txBody>
          <a:bodyPr wrap="square" lIns="45720" rIns="45720" anchor="t">
            <a:spAutoFit/>
          </a:bodyPr>
          <a:lstStyle/>
          <a:p>
            <a:pPr algn="l">
              <a:spcAft>
                <a:spcPts val="400"/>
              </a:spcAft>
            </a:pPr>
            <a:r>
              <a:rPr sz="1250" b="0" i="0">
                <a:solidFill>
                  <a:srgbClr val="4A5560"/>
                </a:solidFill>
                <a:latin typeface="Calibri"/>
              </a:rPr>
              <a:t>cuartil más informativo por permutación: la cola inferior lleva la huella de los obstáculos</a:t>
            </a:r>
          </a:p>
        </p:txBody>
      </p:sp>
      <p:sp>
        <p:nvSpPr>
          <p:cNvPr id="14" name="TextBox 13"/>
          <p:cNvSpPr txBox="1"/>
          <p:nvPr/>
        </p:nvSpPr>
        <p:spPr>
          <a:xfrm>
            <a:off x="548640" y="6428232"/>
            <a:ext cx="7315200" cy="274320"/>
          </a:xfrm>
          <a:prstGeom prst="rect">
            <a:avLst/>
          </a:prstGeom>
          <a:noFill/>
        </p:spPr>
        <p:txBody>
          <a:bodyPr wrap="square" lIns="45720" rIns="45720" anchor="t">
            <a:spAutoFit/>
          </a:bodyPr>
          <a:lstStyle/>
          <a:p>
            <a:pPr algn="l">
              <a:spcAft>
                <a:spcPts val="400"/>
              </a:spcAft>
            </a:pPr>
            <a:r>
              <a:rPr sz="1000" b="0" i="0">
                <a:solidFill>
                  <a:srgbClr val="898781"/>
                </a:solidFill>
                <a:latin typeface="Calibri"/>
              </a:rPr>
              <a:t>Segunda entrega · Localización interior con RSSI WiFi y kNN</a:t>
            </a:r>
          </a:p>
        </p:txBody>
      </p:sp>
      <p:sp>
        <p:nvSpPr>
          <p:cNvPr id="15" name="TextBox 14"/>
          <p:cNvSpPr txBox="1"/>
          <p:nvPr/>
        </p:nvSpPr>
        <p:spPr>
          <a:xfrm>
            <a:off x="10881360" y="6428232"/>
            <a:ext cx="777240" cy="246221"/>
          </a:xfrm>
          <a:prstGeom prst="rect">
            <a:avLst/>
          </a:prstGeom>
          <a:noFill/>
        </p:spPr>
        <p:txBody>
          <a:bodyPr wrap="square" lIns="45720" rIns="45720" anchor="t">
            <a:spAutoFit/>
          </a:bodyPr>
          <a:lstStyle/>
          <a:p>
            <a:pPr algn="r">
              <a:spcAft>
                <a:spcPts val="400"/>
              </a:spcAft>
            </a:pPr>
            <a:r>
              <a:rPr lang="es-MX" sz="1000" b="0" i="0">
                <a:solidFill>
                  <a:srgbClr val="898781"/>
                </a:solidFill>
                <a:latin typeface="Calibri"/>
              </a:rPr>
              <a:t>14</a:t>
            </a:r>
            <a:endParaRPr sz="1000" b="0" i="0">
              <a:solidFill>
                <a:srgbClr val="898781"/>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E4F"/>
        </a:solidFill>
        <a:effectLst/>
      </p:bgPr>
    </p:bg>
    <p:spTree>
      <p:nvGrpSpPr>
        <p:cNvPr id="1" name=""/>
        <p:cNvGrpSpPr/>
        <p:nvPr/>
      </p:nvGrpSpPr>
      <p:grpSpPr>
        <a:xfrm>
          <a:off x="0" y="0"/>
          <a:ext cx="0" cy="0"/>
          <a:chOff x="0" y="0"/>
          <a:chExt cx="0" cy="0"/>
        </a:xfrm>
      </p:grpSpPr>
      <p:sp>
        <p:nvSpPr>
          <p:cNvPr id="2" name="Oval 1"/>
          <p:cNvSpPr/>
          <p:nvPr/>
        </p:nvSpPr>
        <p:spPr>
          <a:xfrm>
            <a:off x="10149840" y="4937760"/>
            <a:ext cx="914400" cy="914400"/>
          </a:xfrm>
          <a:prstGeom prst="ellipse">
            <a:avLst/>
          </a:prstGeom>
          <a:noFill/>
          <a:ln w="22225">
            <a:solidFill>
              <a:srgbClr val="29D3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92640" y="4480560"/>
            <a:ext cx="1828800" cy="1828800"/>
          </a:xfrm>
          <a:prstGeom prst="ellipse">
            <a:avLst/>
          </a:prstGeom>
          <a:noFill/>
          <a:ln w="22225">
            <a:solidFill>
              <a:srgbClr val="1E8F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89719" y="3977640"/>
            <a:ext cx="2834640" cy="2834640"/>
          </a:xfrm>
          <a:prstGeom prst="ellipse">
            <a:avLst/>
          </a:prstGeom>
          <a:noFill/>
          <a:ln w="222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41080" y="3429000"/>
            <a:ext cx="3931920" cy="3931920"/>
          </a:xfrm>
          <a:prstGeom prst="ellipse">
            <a:avLst/>
          </a:prstGeom>
          <a:noFill/>
          <a:ln w="22225">
            <a:solidFill>
              <a:srgbClr val="1747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497312" y="5285232"/>
            <a:ext cx="219456" cy="219456"/>
          </a:xfrm>
          <a:prstGeom prst="ellipse">
            <a:avLst/>
          </a:prstGeom>
          <a:solidFill>
            <a:srgbClr val="29D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640080"/>
            <a:ext cx="8229600" cy="731520"/>
          </a:xfrm>
          <a:prstGeom prst="rect">
            <a:avLst/>
          </a:prstGeom>
          <a:noFill/>
        </p:spPr>
        <p:txBody>
          <a:bodyPr wrap="square" lIns="45720" rIns="45720" anchor="t">
            <a:spAutoFit/>
          </a:bodyPr>
          <a:lstStyle/>
          <a:p>
            <a:pPr algn="l">
              <a:spcAft>
                <a:spcPts val="400"/>
              </a:spcAft>
            </a:pPr>
            <a:r>
              <a:rPr sz="3600" b="1" i="0">
                <a:solidFill>
                  <a:srgbClr val="FFFFFF"/>
                </a:solidFill>
                <a:latin typeface="Cambria"/>
              </a:rPr>
              <a:t>Conclusiones y próximos pasos</a:t>
            </a:r>
          </a:p>
        </p:txBody>
      </p:sp>
      <p:sp>
        <p:nvSpPr>
          <p:cNvPr id="8" name="Oval 7"/>
          <p:cNvSpPr/>
          <p:nvPr/>
        </p:nvSpPr>
        <p:spPr>
          <a:xfrm>
            <a:off x="822960" y="1691640"/>
            <a:ext cx="457200" cy="457200"/>
          </a:xfrm>
          <a:prstGeom prst="ellipse">
            <a:avLst/>
          </a:prstGeom>
          <a:solidFill>
            <a:srgbClr val="29D3C5"/>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0B2E4F"/>
                </a:solidFill>
                <a:latin typeface="Cambria"/>
              </a:rPr>
              <a:t>1</a:t>
            </a:r>
          </a:p>
        </p:txBody>
      </p:sp>
      <p:sp>
        <p:nvSpPr>
          <p:cNvPr id="9" name="TextBox 8"/>
          <p:cNvSpPr txBox="1"/>
          <p:nvPr/>
        </p:nvSpPr>
        <p:spPr>
          <a:xfrm>
            <a:off x="1463040" y="1673352"/>
            <a:ext cx="7498079" cy="548640"/>
          </a:xfrm>
          <a:prstGeom prst="rect">
            <a:avLst/>
          </a:prstGeom>
          <a:noFill/>
        </p:spPr>
        <p:txBody>
          <a:bodyPr wrap="square" lIns="45720" rIns="45720" anchor="ctr">
            <a:spAutoFit/>
          </a:bodyPr>
          <a:lstStyle/>
          <a:p>
            <a:pPr algn="l">
              <a:spcAft>
                <a:spcPts val="400"/>
              </a:spcAft>
            </a:pPr>
            <a:r>
              <a:rPr sz="1700" b="1" i="0">
                <a:solidFill>
                  <a:srgbClr val="29D3C5"/>
                </a:solidFill>
                <a:latin typeface="Calibri"/>
              </a:rPr>
              <a:t>Datos: </a:t>
            </a:r>
            <a:r>
              <a:rPr sz="1700" b="0" i="0">
                <a:solidFill>
                  <a:srgbClr val="FFFFFF"/>
                </a:solidFill>
                <a:latin typeface="Calibri"/>
              </a:rPr>
              <a:t>simulación corregida y anclada en mediciones reales</a:t>
            </a:r>
          </a:p>
        </p:txBody>
      </p:sp>
      <p:sp>
        <p:nvSpPr>
          <p:cNvPr id="10" name="Oval 9"/>
          <p:cNvSpPr/>
          <p:nvPr/>
        </p:nvSpPr>
        <p:spPr>
          <a:xfrm>
            <a:off x="822960" y="2404872"/>
            <a:ext cx="457200" cy="457200"/>
          </a:xfrm>
          <a:prstGeom prst="ellipse">
            <a:avLst/>
          </a:prstGeom>
          <a:solidFill>
            <a:srgbClr val="29D3C5"/>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0B2E4F"/>
                </a:solidFill>
                <a:latin typeface="Cambria"/>
              </a:rPr>
              <a:t>2</a:t>
            </a:r>
          </a:p>
        </p:txBody>
      </p:sp>
      <p:sp>
        <p:nvSpPr>
          <p:cNvPr id="11" name="TextBox 10"/>
          <p:cNvSpPr txBox="1"/>
          <p:nvPr/>
        </p:nvSpPr>
        <p:spPr>
          <a:xfrm>
            <a:off x="1463040" y="2386584"/>
            <a:ext cx="7498079" cy="548640"/>
          </a:xfrm>
          <a:prstGeom prst="rect">
            <a:avLst/>
          </a:prstGeom>
          <a:noFill/>
        </p:spPr>
        <p:txBody>
          <a:bodyPr wrap="square" lIns="45720" rIns="45720" anchor="ctr">
            <a:spAutoFit/>
          </a:bodyPr>
          <a:lstStyle/>
          <a:p>
            <a:pPr algn="l">
              <a:spcAft>
                <a:spcPts val="400"/>
              </a:spcAft>
            </a:pPr>
            <a:r>
              <a:rPr sz="1700" b="1" i="0">
                <a:solidFill>
                  <a:srgbClr val="29D3C5"/>
                </a:solidFill>
                <a:latin typeface="Calibri"/>
              </a:rPr>
              <a:t>Flujo: </a:t>
            </a:r>
            <a:r>
              <a:rPr sz="1700" b="0" i="0">
                <a:solidFill>
                  <a:srgbClr val="FFFFFF"/>
                </a:solidFill>
                <a:latin typeface="Calibri"/>
              </a:rPr>
              <a:t>Pipeline sin fuga, validado por días, semilla 42</a:t>
            </a:r>
          </a:p>
        </p:txBody>
      </p:sp>
      <p:sp>
        <p:nvSpPr>
          <p:cNvPr id="12" name="Oval 11"/>
          <p:cNvSpPr/>
          <p:nvPr/>
        </p:nvSpPr>
        <p:spPr>
          <a:xfrm>
            <a:off x="822960" y="3118104"/>
            <a:ext cx="457200" cy="457200"/>
          </a:xfrm>
          <a:prstGeom prst="ellipse">
            <a:avLst/>
          </a:prstGeom>
          <a:solidFill>
            <a:srgbClr val="29D3C5"/>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0B2E4F"/>
                </a:solidFill>
                <a:latin typeface="Cambria"/>
              </a:rPr>
              <a:t>3</a:t>
            </a:r>
          </a:p>
        </p:txBody>
      </p:sp>
      <p:sp>
        <p:nvSpPr>
          <p:cNvPr id="13" name="TextBox 12"/>
          <p:cNvSpPr txBox="1"/>
          <p:nvPr/>
        </p:nvSpPr>
        <p:spPr>
          <a:xfrm>
            <a:off x="1463040" y="3099816"/>
            <a:ext cx="7498079" cy="548640"/>
          </a:xfrm>
          <a:prstGeom prst="rect">
            <a:avLst/>
          </a:prstGeom>
          <a:noFill/>
        </p:spPr>
        <p:txBody>
          <a:bodyPr wrap="square" lIns="45720" rIns="45720" anchor="ctr">
            <a:spAutoFit/>
          </a:bodyPr>
          <a:lstStyle/>
          <a:p>
            <a:pPr algn="l">
              <a:spcAft>
                <a:spcPts val="400"/>
              </a:spcAft>
            </a:pPr>
            <a:r>
              <a:rPr sz="1700" b="1" i="0">
                <a:solidFill>
                  <a:srgbClr val="29D3C5"/>
                </a:solidFill>
                <a:latin typeface="Calibri"/>
              </a:rPr>
              <a:t>Modelo: </a:t>
            </a:r>
            <a:r>
              <a:rPr sz="1700" b="0" i="0">
                <a:solidFill>
                  <a:srgbClr val="FFFFFF"/>
                </a:solidFill>
                <a:latin typeface="Calibri"/>
              </a:rPr>
              <a:t>kNN, k = 1: 96.4 % y 0.22 m; significativamente mejor que QDA</a:t>
            </a:r>
          </a:p>
        </p:txBody>
      </p:sp>
      <p:sp>
        <p:nvSpPr>
          <p:cNvPr id="14" name="Oval 13"/>
          <p:cNvSpPr/>
          <p:nvPr/>
        </p:nvSpPr>
        <p:spPr>
          <a:xfrm>
            <a:off x="822960" y="3831335"/>
            <a:ext cx="457200" cy="457200"/>
          </a:xfrm>
          <a:prstGeom prst="ellipse">
            <a:avLst/>
          </a:prstGeom>
          <a:solidFill>
            <a:srgbClr val="29D3C5"/>
          </a:solidFill>
          <a:ln>
            <a:noFill/>
          </a:ln>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0B2E4F"/>
                </a:solidFill>
                <a:latin typeface="Cambria"/>
              </a:rPr>
              <a:t>4</a:t>
            </a:r>
          </a:p>
        </p:txBody>
      </p:sp>
      <p:sp>
        <p:nvSpPr>
          <p:cNvPr id="15" name="TextBox 14"/>
          <p:cNvSpPr txBox="1"/>
          <p:nvPr/>
        </p:nvSpPr>
        <p:spPr>
          <a:xfrm>
            <a:off x="1463040" y="3813048"/>
            <a:ext cx="7498079" cy="548640"/>
          </a:xfrm>
          <a:prstGeom prst="rect">
            <a:avLst/>
          </a:prstGeom>
          <a:noFill/>
        </p:spPr>
        <p:txBody>
          <a:bodyPr wrap="square" lIns="45720" rIns="45720" anchor="ctr">
            <a:spAutoFit/>
          </a:bodyPr>
          <a:lstStyle/>
          <a:p>
            <a:pPr algn="l">
              <a:spcAft>
                <a:spcPts val="400"/>
              </a:spcAft>
            </a:pPr>
            <a:r>
              <a:rPr sz="1700" b="1" i="0">
                <a:solidFill>
                  <a:srgbClr val="29D3C5"/>
                </a:solidFill>
                <a:latin typeface="Calibri"/>
              </a:rPr>
              <a:t>Artículo: </a:t>
            </a:r>
            <a:r>
              <a:rPr sz="1700" b="0" i="0">
                <a:solidFill>
                  <a:srgbClr val="FFFFFF"/>
                </a:solidFill>
                <a:latin typeface="Calibri"/>
              </a:rPr>
              <a:t>tendencias reproducidas y 100 % sobre sus datos reales</a:t>
            </a:r>
          </a:p>
        </p:txBody>
      </p:sp>
      <p:sp>
        <p:nvSpPr>
          <p:cNvPr id="16" name="TextBox 15"/>
          <p:cNvSpPr txBox="1"/>
          <p:nvPr/>
        </p:nvSpPr>
        <p:spPr>
          <a:xfrm>
            <a:off x="822960" y="4663440"/>
            <a:ext cx="7772400" cy="411480"/>
          </a:xfrm>
          <a:prstGeom prst="rect">
            <a:avLst/>
          </a:prstGeom>
          <a:noFill/>
        </p:spPr>
        <p:txBody>
          <a:bodyPr wrap="square" lIns="45720" rIns="45720" anchor="t">
            <a:spAutoFit/>
          </a:bodyPr>
          <a:lstStyle/>
          <a:p>
            <a:pPr algn="l">
              <a:spcAft>
                <a:spcPts val="400"/>
              </a:spcAft>
            </a:pPr>
            <a:r>
              <a:rPr sz="1700" b="1" i="0">
                <a:solidFill>
                  <a:srgbClr val="29D3C5"/>
                </a:solidFill>
                <a:latin typeface="Cambria"/>
              </a:rPr>
              <a:t>Entrega final</a:t>
            </a:r>
          </a:p>
        </p:txBody>
      </p:sp>
      <p:sp>
        <p:nvSpPr>
          <p:cNvPr id="17" name="TextBox 16"/>
          <p:cNvSpPr txBox="1"/>
          <p:nvPr/>
        </p:nvSpPr>
        <p:spPr>
          <a:xfrm>
            <a:off x="822960" y="5074920"/>
            <a:ext cx="7863840" cy="731520"/>
          </a:xfrm>
          <a:prstGeom prst="rect">
            <a:avLst/>
          </a:prstGeom>
          <a:noFill/>
        </p:spPr>
        <p:txBody>
          <a:bodyPr wrap="square" lIns="45720" rIns="45720" anchor="t">
            <a:spAutoFit/>
          </a:bodyPr>
          <a:lstStyle/>
          <a:p>
            <a:pPr algn="l">
              <a:spcAft>
                <a:spcPts val="400"/>
              </a:spcAft>
            </a:pPr>
            <a:r>
              <a:rPr sz="1600" b="0" i="0">
                <a:solidFill>
                  <a:srgbClr val="C9D8E4"/>
                </a:solidFill>
                <a:latin typeface="Calibri"/>
              </a:rPr>
              <a:t>Piloto en el campus · Método II (centroide) · Despliegue en Streamlit</a:t>
            </a:r>
          </a:p>
        </p:txBody>
      </p:sp>
      <p:sp>
        <p:nvSpPr>
          <p:cNvPr id="18" name="TextBox 17"/>
          <p:cNvSpPr txBox="1"/>
          <p:nvPr/>
        </p:nvSpPr>
        <p:spPr>
          <a:xfrm>
            <a:off x="822960" y="5897880"/>
            <a:ext cx="8412480" cy="548640"/>
          </a:xfrm>
          <a:prstGeom prst="rect">
            <a:avLst/>
          </a:prstGeom>
          <a:noFill/>
        </p:spPr>
        <p:txBody>
          <a:bodyPr wrap="square" lIns="45720" rIns="45720" anchor="t">
            <a:spAutoFit/>
          </a:bodyPr>
          <a:lstStyle/>
          <a:p>
            <a:pPr algn="l">
              <a:spcAft>
                <a:spcPts val="400"/>
              </a:spcAft>
            </a:pPr>
            <a:r>
              <a:rPr sz="1200" b="0" i="1">
                <a:solidFill>
                  <a:srgbClr val="9FB6C8"/>
                </a:solidFill>
                <a:latin typeface="Calibri"/>
              </a:rPr>
              <a:t>Uso de IA declarado: apoyo para código y redacción; cada decisión técnica es nuestra y la sustentamos.</a:t>
            </a:r>
          </a:p>
        </p:txBody>
      </p:sp>
      <p:sp>
        <p:nvSpPr>
          <p:cNvPr id="19" name="TextBox 18"/>
          <p:cNvSpPr txBox="1"/>
          <p:nvPr/>
        </p:nvSpPr>
        <p:spPr>
          <a:xfrm>
            <a:off x="9052560" y="914400"/>
            <a:ext cx="2743200" cy="822960"/>
          </a:xfrm>
          <a:prstGeom prst="rect">
            <a:avLst/>
          </a:prstGeom>
          <a:noFill/>
        </p:spPr>
        <p:txBody>
          <a:bodyPr wrap="square" lIns="45720" rIns="45720" anchor="t">
            <a:spAutoFit/>
          </a:bodyPr>
          <a:lstStyle/>
          <a:p>
            <a:pPr algn="r">
              <a:spcAft>
                <a:spcPts val="400"/>
              </a:spcAft>
            </a:pPr>
            <a:r>
              <a:rPr sz="4000" b="1" i="0">
                <a:solidFill>
                  <a:srgbClr val="FFFFFF"/>
                </a:solidFill>
                <a:latin typeface="Cambria"/>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3197</Words>
  <Application>Microsoft Office PowerPoint</Application>
  <PresentationFormat>Panorámica</PresentationFormat>
  <Paragraphs>229</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Daniel</cp:lastModifiedBy>
  <cp:revision>2</cp:revision>
  <dcterms:created xsi:type="dcterms:W3CDTF">2013-01-27T09:14:16Z</dcterms:created>
  <dcterms:modified xsi:type="dcterms:W3CDTF">2026-10-26T16:33:33Z</dcterms:modified>
  <cp:category/>
</cp:coreProperties>
</file>